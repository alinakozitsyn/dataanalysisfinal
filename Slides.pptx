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300" y="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8475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206240" cy="4206240"/>
          </a:xfrm>
          <a:prstGeom prst="ellipse">
            <a:avLst/>
          </a:prstGeom>
          <a:solidFill>
            <a:srgbClr val="1C2547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10698480" y="548640"/>
            <a:ext cx="2011680" cy="2011680"/>
          </a:xfrm>
          <a:prstGeom prst="ellipse">
            <a:avLst/>
          </a:prstGeom>
          <a:solidFill>
            <a:srgbClr val="DA5740">
              <a:alpha val="22000"/>
            </a:srgbClr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" name="Shape 2"/>
          <p:cNvSpPr/>
          <p:nvPr/>
        </p:nvSpPr>
        <p:spPr>
          <a:xfrm>
            <a:off x="9052560" y="1828800"/>
            <a:ext cx="1280160" cy="1280160"/>
          </a:xfrm>
          <a:prstGeom prst="ellipse">
            <a:avLst/>
          </a:prstGeom>
          <a:solidFill>
            <a:srgbClr val="3B79B0">
              <a:alpha val="28000"/>
            </a:srgbClr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66928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5486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2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CIS2601  ·  INTRODUCTION TO DATA SCIENCE  ·  2025–2026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1417320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Internet Addiction across</a:t>
            </a:r>
            <a:endParaRPr lang="en-US" sz="4700" dirty="0"/>
          </a:p>
        </p:txBody>
      </p:sp>
      <p:sp>
        <p:nvSpPr>
          <p:cNvPr id="8" name="Text 5"/>
          <p:cNvSpPr/>
          <p:nvPr/>
        </p:nvSpPr>
        <p:spPr>
          <a:xfrm>
            <a:off x="566928" y="2212848"/>
            <a:ext cx="10607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Gender </a:t>
            </a:r>
            <a:r>
              <a:rPr lang="en-US" sz="47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r>
              <a:rPr lang="en-US" sz="4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Exercise groups</a:t>
            </a:r>
            <a:endParaRPr lang="en-US" sz="4700" dirty="0"/>
          </a:p>
        </p:txBody>
      </p:sp>
      <p:sp>
        <p:nvSpPr>
          <p:cNvPr id="9" name="Text 6"/>
          <p:cNvSpPr/>
          <p:nvPr/>
        </p:nvSpPr>
        <p:spPr>
          <a:xfrm>
            <a:off x="566928" y="320040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psychological distress is correlated to perceived internet addiction differently across groups of adolescents and can we forecast who is at risk?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66928" y="4224528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8"/>
          <p:cNvSpPr/>
          <p:nvPr/>
        </p:nvSpPr>
        <p:spPr>
          <a:xfrm>
            <a:off x="768096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86384" y="4809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adolescents · ages 13–19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00984" y="4224528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3502152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520440" y="4809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× exercise groups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36208" y="4334256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19" name="Shape 16"/>
          <p:cNvSpPr/>
          <p:nvPr/>
        </p:nvSpPr>
        <p:spPr>
          <a:xfrm>
            <a:off x="6025206" y="4218490"/>
            <a:ext cx="2487168" cy="969264"/>
          </a:xfrm>
          <a:prstGeom prst="roundRect">
            <a:avLst>
              <a:gd name="adj" fmla="val 8491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Text 17"/>
          <p:cNvSpPr/>
          <p:nvPr/>
        </p:nvSpPr>
        <p:spPr>
          <a:xfrm>
            <a:off x="6226374" y="4328218"/>
            <a:ext cx="21214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E8B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6244662" y="480370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risk forecast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66928" y="565099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    </a:t>
            </a:r>
            <a:r>
              <a:rPr lang="en-US" sz="120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Noam Avizmil  ·  Tomer Golshani  ·  May Mandalaoui  ·  Alina Kozitsyna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Mahmud et al. (2024), Mendeley Data V2 (CC BY 4.0)  ·  Analysis in R 4.5.1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MOTIVATION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question matters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66928" y="1261872"/>
            <a:ext cx="11018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 internet addiction is rising worldwide and travels with depression, poor sleep and suicidal ideation. If distress is what turns ordinary use into compulsive, out-of-control use, then the lever is mental-health support - not just screen-time limits.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" y="195681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PRIOR WORK TELLS US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Shape 6"/>
          <p:cNvSpPr/>
          <p:nvPr/>
        </p:nvSpPr>
        <p:spPr>
          <a:xfrm>
            <a:off x="786384" y="2505456"/>
            <a:ext cx="457200" cy="457200"/>
          </a:xfrm>
          <a:prstGeom prst="ellipse">
            <a:avLst/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33472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8638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↔ addiction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78638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 of 33 studies (303,243 teens): internet addiction correlates with depression, pooled r⁺ = 0.318.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8638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Soriano-Molina et al. 2025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39013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1"/>
          <p:cNvSpPr/>
          <p:nvPr/>
        </p:nvSpPr>
        <p:spPr>
          <a:xfrm>
            <a:off x="3609594" y="2505456"/>
            <a:ext cx="457200" cy="457200"/>
          </a:xfrm>
          <a:prstGeom prst="ellipse">
            <a:avLst/>
          </a:prstGeom>
          <a:solidFill>
            <a:srgbClr val="EAF1F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7610" y="2633472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0959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Loneliness ↔ addiction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360959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effect sizes: loneliness linked to addiction (r = 0.291); the link weakens as the share of males rises.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360959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&amp; Zeng 2024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21334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1" name="Shape 16"/>
          <p:cNvSpPr/>
          <p:nvPr/>
        </p:nvSpPr>
        <p:spPr>
          <a:xfrm>
            <a:off x="6432804" y="2505456"/>
            <a:ext cx="457200" cy="457200"/>
          </a:xfrm>
          <a:prstGeom prst="ellipse">
            <a:avLst/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0820" y="2633472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3280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protects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643280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RCTs: exercise interventions reduced internet-addiction scores (SMD = −1.11)  -  causal, not just correlational.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43280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2025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9036558" y="2286000"/>
            <a:ext cx="2585466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7" name="Shape 21"/>
          <p:cNvSpPr/>
          <p:nvPr/>
        </p:nvSpPr>
        <p:spPr>
          <a:xfrm>
            <a:off x="9256014" y="2505456"/>
            <a:ext cx="457200" cy="457200"/>
          </a:xfrm>
          <a:prstGeom prst="ellipse">
            <a:avLst/>
          </a:prstGeom>
          <a:solidFill>
            <a:srgbClr val="EEE7F5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84030" y="2633472"/>
            <a:ext cx="201168" cy="20116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256014" y="3054096"/>
            <a:ext cx="2146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score higher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9256014" y="3474720"/>
            <a:ext cx="2164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jurisdictions: males more likely to be addicted (g = 0.145); the gap is largest in Asia.</a:t>
            </a:r>
            <a:endParaRPr lang="en-US" sz="1050" dirty="0"/>
          </a:p>
        </p:txBody>
      </p:sp>
      <p:sp>
        <p:nvSpPr>
          <p:cNvPr id="31" name="Text 24"/>
          <p:cNvSpPr/>
          <p:nvPr/>
        </p:nvSpPr>
        <p:spPr>
          <a:xfrm>
            <a:off x="9256014" y="4142232"/>
            <a:ext cx="216484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et al. 2019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566928" y="4681728"/>
            <a:ext cx="11055096" cy="1325880"/>
          </a:xfrm>
          <a:prstGeom prst="roundRect">
            <a:avLst>
              <a:gd name="adj" fmla="val 5517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3" name="Shape 26"/>
          <p:cNvSpPr/>
          <p:nvPr/>
        </p:nvSpPr>
        <p:spPr>
          <a:xfrm>
            <a:off x="877824" y="4974336"/>
            <a:ext cx="512064" cy="512064"/>
          </a:xfrm>
          <a:prstGeom prst="ellipse">
            <a:avLst/>
          </a:prstGeom>
          <a:solidFill>
            <a:srgbClr val="2A335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202" y="5117714"/>
            <a:ext cx="225308" cy="22530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1591056" y="4919472"/>
            <a:ext cx="9692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- AND OUR CONTRIBUTION</a:t>
            </a:r>
            <a:endParaRPr lang="en-US" sz="1050" dirty="0"/>
          </a:p>
        </p:txBody>
      </p:sp>
      <p:sp>
        <p:nvSpPr>
          <p:cNvPr id="36" name="Text 28"/>
          <p:cNvSpPr/>
          <p:nvPr/>
        </p:nvSpPr>
        <p:spPr>
          <a:xfrm>
            <a:off x="1591056" y="5193792"/>
            <a:ext cx="9820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4E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effects were each established separately. No prior study - and none using this Bangladeshi dataset - asks whether distress predicts perceived addiction differently across gender × exercise subgroups within one sample. We turn two documented main effects into a single, falsifiable interaction test, keeping subjective addiction (IAT) separate from raw exposure (hours).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38" name="Text 30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/  11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TEST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questions &amp; hypotheses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074920" cy="2331720"/>
          </a:xfrm>
          <a:prstGeom prst="roundRect">
            <a:avLst>
              <a:gd name="adj" fmla="val 3137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7" name="Shape 4"/>
          <p:cNvSpPr/>
          <p:nvPr/>
        </p:nvSpPr>
        <p:spPr>
          <a:xfrm>
            <a:off x="822960" y="1627632"/>
            <a:ext cx="676656" cy="676656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822960" y="1627632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64208" y="166420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664208" y="1938528"/>
            <a:ext cx="374904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each of the four gender × exercise groups - girls who exercise, girls who don’t, boys who exercise, boys who don’t - do depression and loneliness </a:t>
            </a:r>
            <a:r>
              <a:rPr lang="en-US" sz="1200" dirty="0">
                <a:effectLst/>
                <a:latin typeface="Calibri" panose="020F0502020204030204" pitchFamily="34" charset="0"/>
                <a:ea typeface="Aptos" panose="020B0004020202020204" pitchFamily="34" charset="0"/>
              </a:rPr>
              <a:t>positively correlated with higher internet-addiction scores</a:t>
            </a: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(IAT)? And is that link stronger in some groups?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941064"/>
            <a:ext cx="5074920" cy="1691640"/>
          </a:xfrm>
          <a:prstGeom prst="roundRect">
            <a:avLst>
              <a:gd name="adj" fmla="val 4324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Shape 9"/>
          <p:cNvSpPr/>
          <p:nvPr/>
        </p:nvSpPr>
        <p:spPr>
          <a:xfrm>
            <a:off x="822960" y="4197096"/>
            <a:ext cx="676656" cy="676656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Text 10"/>
          <p:cNvSpPr/>
          <p:nvPr/>
        </p:nvSpPr>
        <p:spPr>
          <a:xfrm>
            <a:off x="822960" y="4197096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1664208" y="42336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664208" y="4507992"/>
            <a:ext cx="37490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student’s distress and group, can we forecast the chance they are internet-addicted (IAT ≥ 31, the Young cutoff)?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025896" y="1371600"/>
            <a:ext cx="5596128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7" name="Shape 14"/>
          <p:cNvSpPr/>
          <p:nvPr/>
        </p:nvSpPr>
        <p:spPr>
          <a:xfrm>
            <a:off x="6281928" y="1609344"/>
            <a:ext cx="420624" cy="420624"/>
          </a:xfrm>
          <a:prstGeom prst="ellipse">
            <a:avLst/>
          </a:prstGeom>
          <a:solidFill>
            <a:srgbClr val="F1F4F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9703" y="1727119"/>
            <a:ext cx="185075" cy="185075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12280" y="1609344"/>
            <a:ext cx="4681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HYPOTHESES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300216" y="231343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7"/>
          <p:cNvSpPr/>
          <p:nvPr/>
        </p:nvSpPr>
        <p:spPr>
          <a:xfrm>
            <a:off x="6300216" y="23134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013448" y="223113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depression → higher IAT, in every group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6281928" y="276148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Shape 20"/>
          <p:cNvSpPr/>
          <p:nvPr/>
        </p:nvSpPr>
        <p:spPr>
          <a:xfrm>
            <a:off x="6300216" y="286207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21"/>
          <p:cNvSpPr/>
          <p:nvPr/>
        </p:nvSpPr>
        <p:spPr>
          <a:xfrm>
            <a:off x="6300216" y="286207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H1b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7013448" y="277977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loneliness → higher IAT, in every group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281928" y="331012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4"/>
          <p:cNvSpPr/>
          <p:nvPr/>
        </p:nvSpPr>
        <p:spPr>
          <a:xfrm>
            <a:off x="6300216" y="341071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F8B5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9" name="Text 25"/>
          <p:cNvSpPr/>
          <p:nvPr/>
        </p:nvSpPr>
        <p:spPr>
          <a:xfrm>
            <a:off x="6300216" y="341071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13448" y="332841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buffers the distress→addiction link (flatter slope in exercisers)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281928" y="385876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2" name="Shape 28"/>
          <p:cNvSpPr/>
          <p:nvPr/>
        </p:nvSpPr>
        <p:spPr>
          <a:xfrm>
            <a:off x="6300216" y="395935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8A5B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29"/>
          <p:cNvSpPr/>
          <p:nvPr/>
        </p:nvSpPr>
        <p:spPr>
          <a:xfrm>
            <a:off x="6300216" y="395935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13448" y="387705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have higher addiction prevalence than females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281928" y="440740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6" name="Shape 32"/>
          <p:cNvSpPr/>
          <p:nvPr/>
        </p:nvSpPr>
        <p:spPr>
          <a:xfrm>
            <a:off x="6300216" y="450799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C2862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7" name="Text 33"/>
          <p:cNvSpPr/>
          <p:nvPr/>
        </p:nvSpPr>
        <p:spPr>
          <a:xfrm>
            <a:off x="6300216" y="450799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7013448" y="442569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Perceived addiction (IAT) tracks distress better than raw screen-time hours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81928" y="4956048"/>
            <a:ext cx="5084064" cy="0"/>
          </a:xfrm>
          <a:prstGeom prst="line">
            <a:avLst/>
          </a:prstGeom>
          <a:noFill/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0" name="Shape 36"/>
          <p:cNvSpPr/>
          <p:nvPr/>
        </p:nvSpPr>
        <p:spPr>
          <a:xfrm>
            <a:off x="6300216" y="5056632"/>
            <a:ext cx="566928" cy="329184"/>
          </a:xfrm>
          <a:prstGeom prst="roundRect">
            <a:avLst>
              <a:gd name="adj" fmla="val 13889"/>
            </a:avLst>
          </a:prstGeom>
          <a:solidFill>
            <a:srgbClr val="2E8B8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1" name="Text 37"/>
          <p:cNvSpPr/>
          <p:nvPr/>
        </p:nvSpPr>
        <p:spPr>
          <a:xfrm>
            <a:off x="6300216" y="505663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7013448" y="4974336"/>
            <a:ext cx="43525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+ group + controls forecast addiction better than chance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6300216" y="5632704"/>
            <a:ext cx="5047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before modelling, grounded in the literature above. Verdicts on slide 10.</a:t>
            </a:r>
            <a:endParaRPr lang="en-US" sz="950" dirty="0"/>
          </a:p>
        </p:txBody>
      </p:sp>
      <p:sp>
        <p:nvSpPr>
          <p:cNvPr id="44" name="Text 40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/  11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OVERVIEW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 Bangladeshi adolescents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61" y="1479133"/>
            <a:ext cx="168981" cy="16898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15568" y="1335024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819 students, ages 13–19 (mean ≈ 15.8); one row per student.</a:t>
            </a:r>
            <a:endParaRPr lang="en-US" sz="1180" dirty="0"/>
          </a:p>
        </p:txBody>
      </p:sp>
      <p:sp>
        <p:nvSpPr>
          <p:cNvPr id="9" name="Shape 5"/>
          <p:cNvSpPr/>
          <p:nvPr/>
        </p:nvSpPr>
        <p:spPr>
          <a:xfrm>
            <a:off x="566928" y="1901952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461" y="2009485"/>
            <a:ext cx="168981" cy="16898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15568" y="186537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Sylhet, Bangladesh - collected by Google Forms behind an informed-consent gate.</a:t>
            </a:r>
            <a:endParaRPr lang="en-US" sz="1180" dirty="0"/>
          </a:p>
        </p:txBody>
      </p:sp>
      <p:sp>
        <p:nvSpPr>
          <p:cNvPr id="12" name="Shape 7"/>
          <p:cNvSpPr/>
          <p:nvPr/>
        </p:nvSpPr>
        <p:spPr>
          <a:xfrm>
            <a:off x="566928" y="2432304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461" y="2539837"/>
            <a:ext cx="168981" cy="16898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15568" y="2395728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· zero missing values across all 91 columns.</a:t>
            </a:r>
            <a:endParaRPr lang="en-US" sz="1180" dirty="0"/>
          </a:p>
        </p:txBody>
      </p:sp>
      <p:sp>
        <p:nvSpPr>
          <p:cNvPr id="15" name="Shape 9"/>
          <p:cNvSpPr/>
          <p:nvPr/>
        </p:nvSpPr>
        <p:spPr>
          <a:xfrm>
            <a:off x="566928" y="2962656"/>
            <a:ext cx="384048" cy="384048"/>
          </a:xfrm>
          <a:prstGeom prst="ellipse">
            <a:avLst/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461" y="3070189"/>
            <a:ext cx="168981" cy="16898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5568" y="292608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(non-probability) sample · 65% female, concentrated at ages 14–16.</a:t>
            </a:r>
            <a:endParaRPr lang="en-US" sz="1180" dirty="0"/>
          </a:p>
        </p:txBody>
      </p:sp>
      <p:sp>
        <p:nvSpPr>
          <p:cNvPr id="18" name="Text 11"/>
          <p:cNvSpPr/>
          <p:nvPr/>
        </p:nvSpPr>
        <p:spPr>
          <a:xfrm>
            <a:off x="566928" y="3529584"/>
            <a:ext cx="5806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6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VALIDATED INSTRUMENTS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566928" y="3822192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0" name="Shape 13"/>
          <p:cNvSpPr/>
          <p:nvPr/>
        </p:nvSpPr>
        <p:spPr>
          <a:xfrm>
            <a:off x="768096" y="4032504"/>
            <a:ext cx="182880" cy="182880"/>
          </a:xfrm>
          <a:prstGeom prst="ellipse">
            <a:avLst/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4"/>
          <p:cNvSpPr/>
          <p:nvPr/>
        </p:nvSpPr>
        <p:spPr>
          <a:xfrm>
            <a:off x="1005840" y="38862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Addiction Test   </a:t>
            </a:r>
            <a:r>
              <a:rPr lang="en-US" sz="95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· perceived addiction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1005840" y="414223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Young, 1998  -  TotalIA (0–94)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566928" y="4535424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Shape 17"/>
          <p:cNvSpPr/>
          <p:nvPr/>
        </p:nvSpPr>
        <p:spPr>
          <a:xfrm>
            <a:off x="768096" y="4745736"/>
            <a:ext cx="182880" cy="182880"/>
          </a:xfrm>
          <a:prstGeom prst="ellipse">
            <a:avLst/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5" name="Text 18"/>
          <p:cNvSpPr/>
          <p:nvPr/>
        </p:nvSpPr>
        <p:spPr>
          <a:xfrm>
            <a:off x="1005840" y="45994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PHQ-9   </a:t>
            </a:r>
            <a:r>
              <a:rPr lang="en-US" sz="950" b="1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1005840" y="485546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Kroenke et al., 2001  -  totalphq (0–27)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566928" y="5248656"/>
            <a:ext cx="5806440" cy="603504"/>
          </a:xfrm>
          <a:prstGeom prst="roundRect">
            <a:avLst>
              <a:gd name="adj" fmla="val 9091"/>
            </a:avLst>
          </a:prstGeom>
          <a:solidFill>
            <a:srgbClr val="EEE7F5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1"/>
          <p:cNvSpPr/>
          <p:nvPr/>
        </p:nvSpPr>
        <p:spPr>
          <a:xfrm>
            <a:off x="768096" y="5458968"/>
            <a:ext cx="182880" cy="182880"/>
          </a:xfrm>
          <a:prstGeom prst="ellipse">
            <a:avLst/>
          </a:prstGeom>
          <a:solidFill>
            <a:srgbClr val="8A5B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9" name="Text 22"/>
          <p:cNvSpPr/>
          <p:nvPr/>
        </p:nvSpPr>
        <p:spPr>
          <a:xfrm>
            <a:off x="1005840" y="531266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UCLA Loneliness Scale v3   </a:t>
            </a:r>
            <a:r>
              <a:rPr lang="en-US" sz="950" b="1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loneliness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1005840" y="556869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1996  -  score 29–75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757416" y="1371600"/>
            <a:ext cx="4864608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2" name="Image 5" descr="/home/claude/build/figs/fig1_group_bala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03720" y="1633220"/>
            <a:ext cx="4572000" cy="2540000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6757416" y="4572000"/>
            <a:ext cx="4864608" cy="1371600"/>
          </a:xfrm>
          <a:prstGeom prst="roundRect">
            <a:avLst>
              <a:gd name="adj" fmla="val 5333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4" name="Text 26"/>
          <p:cNvSpPr/>
          <p:nvPr/>
        </p:nvSpPr>
        <p:spPr>
          <a:xfrm>
            <a:off x="7013448" y="4718304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GROUPS = gender × EXERCISE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7013448" y="4992624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by design (largest:smallest ≈ 2.8:1). Non-exercising boys are the smallest group (n = 101) and carry the widest confidence intervals - flagged throughout.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566928" y="605332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Mahmud et al. (2024), Mendeley Data V2, doi:10.17632/yzcwfyrxy2.2 (CC BY 4.0).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38" name="Text 30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/  11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8A5B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8A5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SET IT UP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decisions that shaped the analysis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390388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7" name="Shape 4"/>
          <p:cNvSpPr/>
          <p:nvPr/>
        </p:nvSpPr>
        <p:spPr>
          <a:xfrm>
            <a:off x="841248" y="1645920"/>
            <a:ext cx="603504" cy="60350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Text 5"/>
          <p:cNvSpPr/>
          <p:nvPr/>
        </p:nvSpPr>
        <p:spPr>
          <a:xfrm>
            <a:off x="841248" y="1645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591056" y="1627632"/>
            <a:ext cx="4110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 = perceived addiction, not “hours online”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91056" y="2359152"/>
            <a:ext cx="41468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pile up at the floor - 62% of students sit in the lowest social-media bucket (84% for internet), leaving little variance to model.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barely track distress (r = 0.27 with depression), while the IAT score tracks it at r = 0.53.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IAT measures loss of control - the construct that actually moves with mental health.</a:t>
            </a:r>
            <a:endParaRPr lang="en-US" sz="1160" dirty="0"/>
          </a:p>
        </p:txBody>
      </p:sp>
      <p:sp>
        <p:nvSpPr>
          <p:cNvPr id="11" name="Shape 8"/>
          <p:cNvSpPr/>
          <p:nvPr/>
        </p:nvSpPr>
        <p:spPr>
          <a:xfrm>
            <a:off x="6231636" y="1371600"/>
            <a:ext cx="5390388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2" name="Shape 9"/>
          <p:cNvSpPr/>
          <p:nvPr/>
        </p:nvSpPr>
        <p:spPr>
          <a:xfrm>
            <a:off x="6505956" y="1645920"/>
            <a:ext cx="603504" cy="60350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Text 10"/>
          <p:cNvSpPr/>
          <p:nvPr/>
        </p:nvSpPr>
        <p:spPr>
          <a:xfrm>
            <a:off x="6505956" y="164592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255764" y="1627632"/>
            <a:ext cx="4110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= the chance of being addicted (logistic)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255764" y="2359152"/>
            <a:ext cx="41468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P(addicted) rather than the raw score, with addicted = IAT ≥ 31 - the standard Young cutoff (25% of students).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distributed across groups, so the target is balanced enough to model.</a:t>
            </a:r>
            <a:endParaRPr lang="en-US" sz="1160" dirty="0"/>
          </a:p>
          <a:p>
            <a:pPr marL="177800" indent="-1778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6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re-checked against a stricter cutoff (IAT ≥ 50; 10% of students) as a robustness lens.</a:t>
            </a:r>
            <a:endParaRPr lang="en-US" sz="1160" dirty="0"/>
          </a:p>
        </p:txBody>
      </p:sp>
      <p:sp>
        <p:nvSpPr>
          <p:cNvPr id="16" name="Shape 13"/>
          <p:cNvSpPr/>
          <p:nvPr/>
        </p:nvSpPr>
        <p:spPr>
          <a:xfrm>
            <a:off x="566928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Shape 14"/>
          <p:cNvSpPr/>
          <p:nvPr/>
        </p:nvSpPr>
        <p:spPr>
          <a:xfrm>
            <a:off x="804672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326" y="4648078"/>
            <a:ext cx="177028" cy="17702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316736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&amp; exclusions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04672" y="506577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age + bullied. 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43400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Shape 18"/>
          <p:cNvSpPr/>
          <p:nvPr/>
        </p:nvSpPr>
        <p:spPr>
          <a:xfrm>
            <a:off x="4581144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3798" y="4648078"/>
            <a:ext cx="177028" cy="17702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93208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- course level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4581144" y="506577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visually: Residuals-vs-Fitted and Normal Q–Q. Collinearity via the predictor correlation (r = 0.37).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119872" y="4315968"/>
            <a:ext cx="3502152" cy="1627632"/>
          </a:xfrm>
          <a:prstGeom prst="roundRect">
            <a:avLst>
              <a:gd name="adj" fmla="val 4494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7" name="Shape 22"/>
          <p:cNvSpPr/>
          <p:nvPr/>
        </p:nvSpPr>
        <p:spPr>
          <a:xfrm>
            <a:off x="8357616" y="4535424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270" y="4648078"/>
            <a:ext cx="177028" cy="17702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69680" y="4535424"/>
            <a:ext cx="25877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357616" y="5065776"/>
            <a:ext cx="3044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set.seed(42), including right before the train/test split - every coefficient, figure and metric reproduces exactly.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/  11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3B7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shows before modelling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539038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3_correlat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877" y="1517904"/>
            <a:ext cx="3986489" cy="29077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31636" y="1371600"/>
            <a:ext cx="539038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9" name="Image 2" descr="/home/claude/build/figs/fig4_addiction_prevalence_by_clu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7940" y="1555750"/>
            <a:ext cx="5097780" cy="28321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66928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1" name="Text 6"/>
          <p:cNvSpPr/>
          <p:nvPr/>
        </p:nvSpPr>
        <p:spPr>
          <a:xfrm>
            <a:off x="804672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0.53</a:t>
            </a:r>
            <a:endParaRPr lang="en-US" sz="2700" dirty="0"/>
          </a:p>
        </p:txBody>
      </p:sp>
      <p:sp>
        <p:nvSpPr>
          <p:cNvPr id="12" name="Text 7"/>
          <p:cNvSpPr/>
          <p:nvPr/>
        </p:nvSpPr>
        <p:spPr>
          <a:xfrm>
            <a:off x="804672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Depression–addiction correlation - far ahead of loneliness (0.31).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343400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9"/>
          <p:cNvSpPr/>
          <p:nvPr/>
        </p:nvSpPr>
        <p:spPr>
          <a:xfrm>
            <a:off x="4581144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3B7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0.27</a:t>
            </a:r>
            <a:endParaRPr lang="en-US" sz="2700" dirty="0"/>
          </a:p>
        </p:txBody>
      </p:sp>
      <p:sp>
        <p:nvSpPr>
          <p:cNvPr id="15" name="Text 10"/>
          <p:cNvSpPr/>
          <p:nvPr/>
        </p:nvSpPr>
        <p:spPr>
          <a:xfrm>
            <a:off x="4581144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Screen-time tracks addiction (0.53) but distress only 0.27 - a poor mental-health proxy.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119872" y="4754880"/>
            <a:ext cx="3502152" cy="1207008"/>
          </a:xfrm>
          <a:prstGeom prst="roundRect">
            <a:avLst>
              <a:gd name="adj" fmla="val 6061"/>
            </a:avLst>
          </a:prstGeom>
          <a:solidFill>
            <a:srgbClr val="EEE7F5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7" name="Text 12"/>
          <p:cNvSpPr/>
          <p:nvPr/>
        </p:nvSpPr>
        <p:spPr>
          <a:xfrm>
            <a:off x="8357616" y="4901184"/>
            <a:ext cx="30449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8A5B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19% → 45%</a:t>
            </a:r>
            <a:endParaRPr lang="en-US" sz="2700" dirty="0"/>
          </a:p>
        </p:txBody>
      </p:sp>
      <p:sp>
        <p:nvSpPr>
          <p:cNvPr id="18" name="Text 13"/>
          <p:cNvSpPr/>
          <p:nvPr/>
        </p:nvSpPr>
        <p:spPr>
          <a:xfrm>
            <a:off x="8357616" y="5413248"/>
            <a:ext cx="3044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Addiction prevalence more than doubles, girls to non-exercising boys.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66928" y="6089904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is heavily right-skewed (≈75% of students below the addiction cutoff) - which is why the forecast uses a binary outcome.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21" name="Text 16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/  11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models, one job each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566928" y="128016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score calls for linear regression; a yes/no outcome calls for logistic regression. Everything stays within the course syllabus.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Shape 5"/>
          <p:cNvSpPr/>
          <p:nvPr/>
        </p:nvSpPr>
        <p:spPr>
          <a:xfrm>
            <a:off x="822960" y="2084832"/>
            <a:ext cx="548640" cy="548640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6"/>
          <p:cNvSpPr/>
          <p:nvPr/>
        </p:nvSpPr>
        <p:spPr>
          <a:xfrm>
            <a:off x="822960" y="2084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517904" y="208483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linear regressions - one per group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41248" y="272491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2" name="Text 9"/>
          <p:cNvSpPr/>
          <p:nvPr/>
        </p:nvSpPr>
        <p:spPr>
          <a:xfrm>
            <a:off x="969264" y="272491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DA57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TotalIA ~ depression + loneliness + age + bullied</a:t>
            </a:r>
            <a:endParaRPr lang="en-US" sz="1020" dirty="0"/>
          </a:p>
        </p:txBody>
      </p:sp>
      <p:sp>
        <p:nvSpPr>
          <p:cNvPr id="13" name="Text 10"/>
          <p:cNvSpPr/>
          <p:nvPr/>
        </p:nvSpPr>
        <p:spPr>
          <a:xfrm>
            <a:off x="841248" y="316382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the distress slope inside each gender × exercise subgroup, holding the group fixed by stratification.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40780" y="182880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5" name="Shape 12"/>
          <p:cNvSpPr/>
          <p:nvPr/>
        </p:nvSpPr>
        <p:spPr>
          <a:xfrm>
            <a:off x="6496812" y="2084832"/>
            <a:ext cx="548640" cy="548640"/>
          </a:xfrm>
          <a:prstGeom prst="ellipse">
            <a:avLst/>
          </a:prstGeom>
          <a:solidFill>
            <a:srgbClr val="3B79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6" name="Text 13"/>
          <p:cNvSpPr/>
          <p:nvPr/>
        </p:nvSpPr>
        <p:spPr>
          <a:xfrm>
            <a:off x="6496812" y="2084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191756" y="208483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interaction model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515100" y="272491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AF1F8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6643116" y="272491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3B7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the distress slopes differ across groups?</a:t>
            </a:r>
            <a:endParaRPr lang="en-US" sz="1020" dirty="0"/>
          </a:p>
        </p:txBody>
      </p:sp>
      <p:sp>
        <p:nvSpPr>
          <p:cNvPr id="20" name="Text 17"/>
          <p:cNvSpPr/>
          <p:nvPr/>
        </p:nvSpPr>
        <p:spPr>
          <a:xfrm>
            <a:off x="6515100" y="316382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falsifiable test of H2 - whether exercise buffers the distress→addiction link, and whether that differs by gender.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11480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2" name="Shape 19"/>
          <p:cNvSpPr/>
          <p:nvPr/>
        </p:nvSpPr>
        <p:spPr>
          <a:xfrm>
            <a:off x="822960" y="4370832"/>
            <a:ext cx="548640" cy="548640"/>
          </a:xfrm>
          <a:prstGeom prst="ellipse">
            <a:avLst/>
          </a:prstGeom>
          <a:solidFill>
            <a:srgbClr val="8A5BB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3" name="Text 20"/>
          <p:cNvSpPr/>
          <p:nvPr/>
        </p:nvSpPr>
        <p:spPr>
          <a:xfrm>
            <a:off x="822960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517904" y="437083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whole-sample models</a:t>
            </a:r>
            <a:endParaRPr lang="en-US" sz="1450" dirty="0"/>
          </a:p>
        </p:txBody>
      </p:sp>
      <p:sp>
        <p:nvSpPr>
          <p:cNvPr id="25" name="Shape 22"/>
          <p:cNvSpPr/>
          <p:nvPr/>
        </p:nvSpPr>
        <p:spPr>
          <a:xfrm>
            <a:off x="841248" y="501091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EE7F5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6" name="Text 23"/>
          <p:cNvSpPr/>
          <p:nvPr/>
        </p:nvSpPr>
        <p:spPr>
          <a:xfrm>
            <a:off x="969264" y="501091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8A5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A: distress only   ·   Model B: global additive</a:t>
            </a:r>
            <a:endParaRPr lang="en-US" sz="1020" dirty="0"/>
          </a:p>
        </p:txBody>
      </p:sp>
      <p:sp>
        <p:nvSpPr>
          <p:cNvPr id="27" name="Text 24"/>
          <p:cNvSpPr/>
          <p:nvPr/>
        </p:nvSpPr>
        <p:spPr>
          <a:xfrm>
            <a:off x="841248" y="544982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once the interaction comes back null - Model B adds gender, exercise, bullied and age across all 819 students.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240780" y="4114800"/>
            <a:ext cx="5381244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29" name="Shape 26"/>
          <p:cNvSpPr/>
          <p:nvPr/>
        </p:nvSpPr>
        <p:spPr>
          <a:xfrm>
            <a:off x="6496812" y="4370832"/>
            <a:ext cx="548640" cy="548640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30" name="Text 27"/>
          <p:cNvSpPr/>
          <p:nvPr/>
        </p:nvSpPr>
        <p:spPr>
          <a:xfrm>
            <a:off x="6496812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7191756" y="4370832"/>
            <a:ext cx="41925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forecast of P(addicted)</a:t>
            </a:r>
            <a:endParaRPr lang="en-US" sz="1450" dirty="0"/>
          </a:p>
        </p:txBody>
      </p:sp>
      <p:sp>
        <p:nvSpPr>
          <p:cNvPr id="32" name="Shape 29"/>
          <p:cNvSpPr/>
          <p:nvPr/>
        </p:nvSpPr>
        <p:spPr>
          <a:xfrm>
            <a:off x="6515100" y="5010912"/>
            <a:ext cx="4832604" cy="384048"/>
          </a:xfrm>
          <a:prstGeom prst="roundRect">
            <a:avLst>
              <a:gd name="adj" fmla="val 11905"/>
            </a:avLst>
          </a:prstGeom>
          <a:solidFill>
            <a:srgbClr val="E3F1EF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30"/>
          <p:cNvSpPr/>
          <p:nvPr/>
        </p:nvSpPr>
        <p:spPr>
          <a:xfrm>
            <a:off x="6643116" y="5010912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20" dirty="0">
                <a:solidFill>
                  <a:srgbClr val="2E8B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depression + loneliness + gender + exercise + age + bullied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6515100" y="5449824"/>
            <a:ext cx="48508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70/30 stratified split: fit on train, score on the held-out test. ROC / AUC + confusion matrix; odds ratios on the full sample.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/  11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DA5740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GROUP REGRESSIONS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Depression drives addiction in every group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61264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7_cluster_coeffici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7747" y="1517904"/>
            <a:ext cx="4904842" cy="272491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4535424"/>
            <a:ext cx="1908048" cy="1371600"/>
          </a:xfrm>
          <a:prstGeom prst="roundRect">
            <a:avLst>
              <a:gd name="adj" fmla="val 4667"/>
            </a:avLst>
          </a:prstGeom>
          <a:solidFill>
            <a:srgbClr val="FAEAE6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9" name="Text 5"/>
          <p:cNvSpPr/>
          <p:nvPr/>
        </p:nvSpPr>
        <p:spPr>
          <a:xfrm>
            <a:off x="713232" y="4663440"/>
            <a:ext cx="1633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0.38–0.47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13232" y="5102352"/>
            <a:ext cx="1652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depression slope, all p &lt; .001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676144" y="4535424"/>
            <a:ext cx="1908048" cy="1371600"/>
          </a:xfrm>
          <a:prstGeom prst="roundRect">
            <a:avLst>
              <a:gd name="adj" fmla="val 4667"/>
            </a:avLst>
          </a:prstGeom>
          <a:solidFill>
            <a:srgbClr val="EAF1F8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8"/>
          <p:cNvSpPr/>
          <p:nvPr/>
        </p:nvSpPr>
        <p:spPr>
          <a:xfrm>
            <a:off x="2822448" y="4663440"/>
            <a:ext cx="1633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B7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25–34%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2822448" y="5102352"/>
            <a:ext cx="1652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variance explained per group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785360" y="4535424"/>
            <a:ext cx="1908048" cy="1371600"/>
          </a:xfrm>
          <a:prstGeom prst="roundRect">
            <a:avLst>
              <a:gd name="adj" fmla="val 4667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5" name="Text 11"/>
          <p:cNvSpPr/>
          <p:nvPr/>
        </p:nvSpPr>
        <p:spPr>
          <a:xfrm>
            <a:off x="4931664" y="4663440"/>
            <a:ext cx="1633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4931664" y="5102352"/>
            <a:ext cx="1652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loneliness slope within groups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077456" y="1371600"/>
            <a:ext cx="4544568" cy="1737360"/>
          </a:xfrm>
          <a:prstGeom prst="roundRect">
            <a:avLst>
              <a:gd name="adj" fmla="val 4211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8" name="Shape 14"/>
          <p:cNvSpPr/>
          <p:nvPr/>
        </p:nvSpPr>
        <p:spPr>
          <a:xfrm>
            <a:off x="7351776" y="1591056"/>
            <a:ext cx="457200" cy="457200"/>
          </a:xfrm>
          <a:prstGeom prst="ellipse">
            <a:avLst/>
          </a:prstGeom>
          <a:solidFill>
            <a:srgbClr val="2A3358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9792" y="1719072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955280" y="1572768"/>
            <a:ext cx="3447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SLOPES DIFFER ACROSS GROUPS?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7955280" y="1865376"/>
            <a:ext cx="3447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F(6, 805) = 0.65, p = 0.69.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7388352" y="2286000"/>
            <a:ext cx="3959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4E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pushes addiction just as hard for non-exercising boys as for exercising girls. This contradicts H2 (exercise buffering).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30" name="Text 24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/  11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E8B8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· THE FORECAST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who is at risk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371600"/>
            <a:ext cx="457200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9AA8C8">
                <a:alpha val="22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7" name="Image 1" descr="/home/claude/build/figs/fig11_r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2729" y="1517904"/>
            <a:ext cx="3180398" cy="290779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466344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131A33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9" name="Text 5"/>
          <p:cNvSpPr/>
          <p:nvPr/>
        </p:nvSpPr>
        <p:spPr>
          <a:xfrm>
            <a:off x="84124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786384" y="5047488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E8B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</a:t>
            </a:r>
            <a:endParaRPr lang="en-US" sz="4400" dirty="0"/>
          </a:p>
        </p:txBody>
      </p:sp>
      <p:sp>
        <p:nvSpPr>
          <p:cNvPr id="11" name="Text 7"/>
          <p:cNvSpPr/>
          <p:nvPr/>
        </p:nvSpPr>
        <p:spPr>
          <a:xfrm>
            <a:off x="2578608" y="4882896"/>
            <a:ext cx="2331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0.78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0.74 baseline</a:t>
            </a:r>
            <a:endParaRPr lang="en-US" sz="12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0.89  ·  Sens 0.47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522976" y="1371600"/>
            <a:ext cx="6099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AT HIGHER RISK – SLOPES (FULL SAMPLE)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522976" y="171907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4" name="Text 10"/>
          <p:cNvSpPr/>
          <p:nvPr/>
        </p:nvSpPr>
        <p:spPr>
          <a:xfrm>
            <a:off x="5742432" y="171907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PHQ-9 point (depression)</a:t>
            </a:r>
            <a:endParaRPr lang="en-US" sz="1180" dirty="0"/>
          </a:p>
        </p:txBody>
      </p:sp>
      <p:sp>
        <p:nvSpPr>
          <p:cNvPr id="15" name="Text 11"/>
          <p:cNvSpPr/>
          <p:nvPr/>
        </p:nvSpPr>
        <p:spPr>
          <a:xfrm>
            <a:off x="9107424" y="171907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A57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1.18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0250424" y="171907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522976" y="226771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4"/>
          <p:cNvSpPr/>
          <p:nvPr/>
        </p:nvSpPr>
        <p:spPr>
          <a:xfrm>
            <a:off x="5742432" y="226771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Bullied (vs not)</a:t>
            </a:r>
            <a:endParaRPr lang="en-US" sz="1180" dirty="0"/>
          </a:p>
        </p:txBody>
      </p:sp>
      <p:sp>
        <p:nvSpPr>
          <p:cNvPr id="19" name="Text 15"/>
          <p:cNvSpPr/>
          <p:nvPr/>
        </p:nvSpPr>
        <p:spPr>
          <a:xfrm>
            <a:off x="9107424" y="226771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1.98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10250424" y="226771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.002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522976" y="281635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2" name="Text 18"/>
          <p:cNvSpPr/>
          <p:nvPr/>
        </p:nvSpPr>
        <p:spPr>
          <a:xfrm>
            <a:off x="5742432" y="281635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(vs female)</a:t>
            </a:r>
            <a:endParaRPr lang="en-US" sz="1180" dirty="0"/>
          </a:p>
        </p:txBody>
      </p:sp>
      <p:sp>
        <p:nvSpPr>
          <p:cNvPr id="23" name="Text 19"/>
          <p:cNvSpPr/>
          <p:nvPr/>
        </p:nvSpPr>
        <p:spPr>
          <a:xfrm>
            <a:off x="9107424" y="281635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1.60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0250424" y="281635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.023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5522976" y="336499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6" name="Text 22"/>
          <p:cNvSpPr/>
          <p:nvPr/>
        </p:nvSpPr>
        <p:spPr>
          <a:xfrm>
            <a:off x="5742432" y="336499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year of age</a:t>
            </a:r>
            <a:endParaRPr lang="en-US" sz="1180" dirty="0"/>
          </a:p>
        </p:txBody>
      </p:sp>
      <p:sp>
        <p:nvSpPr>
          <p:cNvPr id="27" name="Text 23"/>
          <p:cNvSpPr/>
          <p:nvPr/>
        </p:nvSpPr>
        <p:spPr>
          <a:xfrm>
            <a:off x="9107424" y="336499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1.26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0250424" y="336499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5522976" y="391363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1F4FA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Text 26"/>
          <p:cNvSpPr/>
          <p:nvPr/>
        </p:nvSpPr>
        <p:spPr>
          <a:xfrm>
            <a:off x="5742432" y="391363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b="1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UCLA point (loneliness)</a:t>
            </a:r>
            <a:endParaRPr lang="en-US" sz="1180" dirty="0"/>
          </a:p>
        </p:txBody>
      </p:sp>
      <p:sp>
        <p:nvSpPr>
          <p:cNvPr id="31" name="Text 27"/>
          <p:cNvSpPr/>
          <p:nvPr/>
        </p:nvSpPr>
        <p:spPr>
          <a:xfrm>
            <a:off x="9107424" y="39136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B79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1.04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10250424" y="39136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.001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5522976" y="4462272"/>
            <a:ext cx="6099048" cy="475488"/>
          </a:xfrm>
          <a:prstGeom prst="roundRect">
            <a:avLst>
              <a:gd name="adj" fmla="val 9615"/>
            </a:avLst>
          </a:prstGeom>
          <a:solidFill>
            <a:srgbClr val="FBFCFE"/>
          </a:solidFill>
          <a:ln w="12700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4" name="Text 30"/>
          <p:cNvSpPr/>
          <p:nvPr/>
        </p:nvSpPr>
        <p:spPr>
          <a:xfrm>
            <a:off x="5742432" y="4462272"/>
            <a:ext cx="34472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 (vs not)</a:t>
            </a:r>
            <a:endParaRPr lang="en-US" sz="1180" dirty="0"/>
          </a:p>
        </p:txBody>
      </p:sp>
      <p:sp>
        <p:nvSpPr>
          <p:cNvPr id="35" name="Text 31"/>
          <p:cNvSpPr/>
          <p:nvPr/>
        </p:nvSpPr>
        <p:spPr>
          <a:xfrm>
            <a:off x="9107424" y="446227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C74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10250424" y="446227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i="1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n.s. (p = .383)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5522976" y="5065776"/>
            <a:ext cx="6099048" cy="841248"/>
          </a:xfrm>
          <a:prstGeom prst="roundRect">
            <a:avLst>
              <a:gd name="adj" fmla="val 7609"/>
            </a:avLst>
          </a:prstGeom>
          <a:solidFill>
            <a:srgbClr val="FAEAE6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8" name="Text 34"/>
          <p:cNvSpPr/>
          <p:nvPr/>
        </p:nvSpPr>
        <p:spPr>
          <a:xfrm>
            <a:off x="5760720" y="5065776"/>
            <a:ext cx="5641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30" b="1" dirty="0">
                <a:solidFill>
                  <a:srgbClr val="DA57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extra PHQ-9 point raises the odds of addiction by ~18%. </a:t>
            </a:r>
            <a:r>
              <a:rPr lang="en-US" sz="113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bullied, male, and older all raise the odds; exercise points protective but isn’t significant once distress and gender are in.</a:t>
            </a:r>
            <a:endParaRPr lang="en-US" sz="1130" dirty="0"/>
          </a:p>
        </p:txBody>
      </p:sp>
      <p:sp>
        <p:nvSpPr>
          <p:cNvPr id="39" name="Text 35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/  11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512064" cy="512064"/>
          </a:xfrm>
          <a:prstGeom prst="ellipse">
            <a:avLst/>
          </a:prstGeom>
          <a:solidFill>
            <a:srgbClr val="2F8B58"/>
          </a:solidFill>
          <a:ln/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617220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38912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SCORECARD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261872" y="662940"/>
            <a:ext cx="10515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330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predicted vs what we found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66928" y="1417320"/>
            <a:ext cx="11055096" cy="420624"/>
          </a:xfrm>
          <a:prstGeom prst="rect">
            <a:avLst/>
          </a:prstGeom>
          <a:solidFill>
            <a:srgbClr val="131A3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7" name="Text 4"/>
          <p:cNvSpPr/>
          <p:nvPr/>
        </p:nvSpPr>
        <p:spPr>
          <a:xfrm>
            <a:off x="566928" y="141732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316736" y="1417320"/>
            <a:ext cx="466344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089904" y="1417320"/>
            <a:ext cx="17830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964424" y="1417320"/>
            <a:ext cx="36118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66928" y="1837944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2" name="Text 9"/>
          <p:cNvSpPr/>
          <p:nvPr/>
        </p:nvSpPr>
        <p:spPr>
          <a:xfrm>
            <a:off x="566928" y="1837944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280160" y="1837944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depression → higher IAT (every group)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053328" y="1956816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5" name="Text 12"/>
          <p:cNvSpPr/>
          <p:nvPr/>
        </p:nvSpPr>
        <p:spPr>
          <a:xfrm>
            <a:off x="6053328" y="195681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927848" y="1837944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β 0.38–0.47, all p &lt; .001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566928" y="2368296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18" name="Text 15"/>
          <p:cNvSpPr/>
          <p:nvPr/>
        </p:nvSpPr>
        <p:spPr>
          <a:xfrm>
            <a:off x="566928" y="2368296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H1b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280160" y="2368296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loneliness → higher IAT (every group)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053328" y="2487168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FD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1" name="Text 18"/>
          <p:cNvSpPr/>
          <p:nvPr/>
        </p:nvSpPr>
        <p:spPr>
          <a:xfrm>
            <a:off x="6053328" y="248716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927848" y="2368296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0.11–0.13 pooled; ≈ 0 in 3 of 4 groups</a:t>
            </a:r>
            <a:endParaRPr lang="en-US" sz="1080" dirty="0"/>
          </a:p>
        </p:txBody>
      </p:sp>
      <p:sp>
        <p:nvSpPr>
          <p:cNvPr id="23" name="Shape 20"/>
          <p:cNvSpPr/>
          <p:nvPr/>
        </p:nvSpPr>
        <p:spPr>
          <a:xfrm>
            <a:off x="566928" y="2898648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4" name="Text 21"/>
          <p:cNvSpPr/>
          <p:nvPr/>
        </p:nvSpPr>
        <p:spPr>
          <a:xfrm>
            <a:off x="566928" y="2898648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280160" y="2898648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buffers the distress→addiction link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053328" y="3017520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7E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27" name="Text 24"/>
          <p:cNvSpPr/>
          <p:nvPr/>
        </p:nvSpPr>
        <p:spPr>
          <a:xfrm>
            <a:off x="6053328" y="3017520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04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CONTRADICTED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7927848" y="2898648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 F(6,805) = 0.65, p = 0.69</a:t>
            </a:r>
            <a:endParaRPr lang="en-US" sz="1080" dirty="0"/>
          </a:p>
        </p:txBody>
      </p:sp>
      <p:sp>
        <p:nvSpPr>
          <p:cNvPr id="29" name="Shape 26"/>
          <p:cNvSpPr/>
          <p:nvPr/>
        </p:nvSpPr>
        <p:spPr>
          <a:xfrm>
            <a:off x="566928" y="3429000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0" name="Text 27"/>
          <p:cNvSpPr/>
          <p:nvPr/>
        </p:nvSpPr>
        <p:spPr>
          <a:xfrm>
            <a:off x="566928" y="3429000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1280160" y="3429000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Males have higher prevalence than females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053328" y="3547872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3" name="Text 30"/>
          <p:cNvSpPr/>
          <p:nvPr/>
        </p:nvSpPr>
        <p:spPr>
          <a:xfrm>
            <a:off x="6053328" y="3547872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927848" y="3429000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vs 19%; male OR = 1.60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566928" y="3959352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36" name="Text 33"/>
          <p:cNvSpPr/>
          <p:nvPr/>
        </p:nvSpPr>
        <p:spPr>
          <a:xfrm>
            <a:off x="566928" y="3959352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1280160" y="3959352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tracks distress better than screen-time hours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053328" y="4078224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9" name="Text 36"/>
          <p:cNvSpPr/>
          <p:nvPr/>
        </p:nvSpPr>
        <p:spPr>
          <a:xfrm>
            <a:off x="6053328" y="407822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7927848" y="3959352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 r = 0.53 vs hours r = 0.27 (w/ depression)</a:t>
            </a:r>
            <a:endParaRPr lang="en-US" sz="1080" dirty="0"/>
          </a:p>
        </p:txBody>
      </p:sp>
      <p:sp>
        <p:nvSpPr>
          <p:cNvPr id="41" name="Shape 38"/>
          <p:cNvSpPr/>
          <p:nvPr/>
        </p:nvSpPr>
        <p:spPr>
          <a:xfrm>
            <a:off x="566928" y="4489704"/>
            <a:ext cx="11055096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2" name="Text 39"/>
          <p:cNvSpPr/>
          <p:nvPr/>
        </p:nvSpPr>
        <p:spPr>
          <a:xfrm>
            <a:off x="566928" y="4489704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</a:t>
            </a:r>
            <a:endParaRPr lang="en-US" sz="1250" dirty="0"/>
          </a:p>
        </p:txBody>
      </p:sp>
      <p:sp>
        <p:nvSpPr>
          <p:cNvPr id="43" name="Text 40"/>
          <p:cNvSpPr/>
          <p:nvPr/>
        </p:nvSpPr>
        <p:spPr>
          <a:xfrm>
            <a:off x="1280160" y="4489704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+ group forecast addiction &gt; chance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053328" y="4608576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F8EFDD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45" name="Text 42"/>
          <p:cNvSpPr/>
          <p:nvPr/>
        </p:nvSpPr>
        <p:spPr>
          <a:xfrm>
            <a:off x="6053328" y="460857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7927848" y="4489704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0.76, accuracy 0.78 &gt; 0.74 baseline</a:t>
            </a:r>
            <a:endParaRPr lang="en-US" sz="1080" dirty="0"/>
          </a:p>
        </p:txBody>
      </p:sp>
      <p:sp>
        <p:nvSpPr>
          <p:cNvPr id="47" name="Shape 44"/>
          <p:cNvSpPr/>
          <p:nvPr/>
        </p:nvSpPr>
        <p:spPr>
          <a:xfrm>
            <a:off x="566928" y="5020056"/>
            <a:ext cx="11055096" cy="530352"/>
          </a:xfrm>
          <a:prstGeom prst="rect">
            <a:avLst/>
          </a:prstGeom>
          <a:solidFill>
            <a:srgbClr val="F5F7FC"/>
          </a:solidFill>
          <a:ln w="9525">
            <a:solidFill>
              <a:srgbClr val="E1E6F0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48" name="Text 45"/>
          <p:cNvSpPr/>
          <p:nvPr/>
        </p:nvSpPr>
        <p:spPr>
          <a:xfrm>
            <a:off x="566928" y="5020056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1280160" y="5020056"/>
            <a:ext cx="466344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Emergent: groups differ in level, not slope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6053328" y="5138928"/>
            <a:ext cx="1627632" cy="292608"/>
          </a:xfrm>
          <a:prstGeom prst="roundRect">
            <a:avLst>
              <a:gd name="adj" fmla="val 15625"/>
            </a:avLst>
          </a:prstGeom>
          <a:solidFill>
            <a:srgbClr val="E7F2EB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51" name="Text 48"/>
          <p:cNvSpPr/>
          <p:nvPr/>
        </p:nvSpPr>
        <p:spPr>
          <a:xfrm>
            <a:off x="6053328" y="513892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50" dirty="0">
                <a:solidFill>
                  <a:srgbClr val="2F8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7927848" y="5020056"/>
            <a:ext cx="36118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slopes (Fig 7) + different heights (Fig 4)</a:t>
            </a:r>
            <a:endParaRPr lang="en-US" sz="1080" dirty="0"/>
          </a:p>
        </p:txBody>
      </p:sp>
      <p:sp>
        <p:nvSpPr>
          <p:cNvPr id="53" name="Text 50"/>
          <p:cNvSpPr/>
          <p:nvPr/>
        </p:nvSpPr>
        <p:spPr>
          <a:xfrm>
            <a:off x="566928" y="5715000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233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r>
              <a:rPr lang="en-US" sz="1200" dirty="0">
                <a:solidFill>
                  <a:srgbClr val="2C32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is the main predictor of perceived addiction, well ahead of loneliness, and it works at about the same rate in every subgroup - what changes from group to group is the starting point.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566928" y="6455664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10161727" y="64556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solidFill>
            <a:srgbClr val="1A2244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3" name="Shape 1"/>
          <p:cNvSpPr/>
          <p:nvPr/>
        </p:nvSpPr>
        <p:spPr>
          <a:xfrm>
            <a:off x="10607040" y="-1280160"/>
            <a:ext cx="3108960" cy="3108960"/>
          </a:xfrm>
          <a:prstGeom prst="ellipse">
            <a:avLst/>
          </a:prstGeom>
          <a:solidFill>
            <a:srgbClr val="DA5740">
              <a:alpha val="16000"/>
            </a:srgbClr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48640"/>
            <a:ext cx="310896" cy="31089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87552" y="53035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40" dirty="0">
                <a:solidFill>
                  <a:srgbClr val="AFC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66928" y="91440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66928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8" name="Shape 5"/>
          <p:cNvSpPr/>
          <p:nvPr/>
        </p:nvSpPr>
        <p:spPr>
          <a:xfrm>
            <a:off x="841248" y="2066544"/>
            <a:ext cx="603504" cy="603504"/>
          </a:xfrm>
          <a:prstGeom prst="ellipse">
            <a:avLst/>
          </a:prstGeom>
          <a:solidFill>
            <a:srgbClr val="DA574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9" name="Text 6"/>
          <p:cNvSpPr/>
          <p:nvPr/>
        </p:nvSpPr>
        <p:spPr>
          <a:xfrm>
            <a:off x="841248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41248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 - not loneliness - is the driver.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41248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main predictor of perceived internet addiction, and it bites about equally hard in every subgroup.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43400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3" name="Shape 10"/>
          <p:cNvSpPr/>
          <p:nvPr/>
        </p:nvSpPr>
        <p:spPr>
          <a:xfrm>
            <a:off x="4617720" y="2066544"/>
            <a:ext cx="603504" cy="603504"/>
          </a:xfrm>
          <a:prstGeom prst="ellipse">
            <a:avLst/>
          </a:prstGeom>
          <a:solidFill>
            <a:srgbClr val="3B79B0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4" name="Text 11"/>
          <p:cNvSpPr/>
          <p:nvPr/>
        </p:nvSpPr>
        <p:spPr>
          <a:xfrm>
            <a:off x="4617720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617720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differ in level, not slope.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617720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Non-exercising boys cross into addiction far more often because they start with more distress and a higher male baseline.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19872" y="1792224"/>
            <a:ext cx="3502152" cy="2194560"/>
          </a:xfrm>
          <a:prstGeom prst="roundRect">
            <a:avLst>
              <a:gd name="adj" fmla="val 3750"/>
            </a:avLst>
          </a:prstGeom>
          <a:solidFill>
            <a:srgbClr val="1F2848"/>
          </a:solidFill>
          <a:ln w="12700">
            <a:solidFill>
              <a:srgbClr val="2A3358"/>
            </a:solidFill>
            <a:prstDash val="solid"/>
          </a:ln>
          <a:effectLst>
            <a:outerShdw blurRad="114300" dist="38100" dir="5400000" algn="bl" rotWithShape="0">
              <a:srgbClr val="0B1020">
                <a:alpha val="16000"/>
              </a:srgbClr>
            </a:outerShdw>
          </a:effectLst>
        </p:spPr>
        <p:txBody>
          <a:bodyPr/>
          <a:lstStyle/>
          <a:p>
            <a:endParaRPr lang="he-IL"/>
          </a:p>
        </p:txBody>
      </p:sp>
      <p:sp>
        <p:nvSpPr>
          <p:cNvPr id="18" name="Shape 15"/>
          <p:cNvSpPr/>
          <p:nvPr/>
        </p:nvSpPr>
        <p:spPr>
          <a:xfrm>
            <a:off x="8394192" y="2066544"/>
            <a:ext cx="603504" cy="603504"/>
          </a:xfrm>
          <a:prstGeom prst="ellipse">
            <a:avLst/>
          </a:prstGeom>
          <a:solidFill>
            <a:srgbClr val="2E8B83"/>
          </a:solidFill>
          <a:ln/>
        </p:spPr>
        <p:txBody>
          <a:bodyPr/>
          <a:lstStyle/>
          <a:p>
            <a:endParaRPr lang="he-IL"/>
          </a:p>
        </p:txBody>
      </p:sp>
      <p:sp>
        <p:nvSpPr>
          <p:cNvPr id="19" name="Text 16"/>
          <p:cNvSpPr/>
          <p:nvPr/>
        </p:nvSpPr>
        <p:spPr>
          <a:xfrm>
            <a:off x="8394192" y="20665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94192" y="2779776"/>
            <a:ext cx="29535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lever is mental-health support.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394192" y="336499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6000"/>
              </a:lnSpc>
              <a:buNone/>
            </a:pPr>
            <a:r>
              <a:rPr lang="en-US" sz="1100" dirty="0">
                <a:solidFill>
                  <a:srgbClr val="C2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the high-baseline subgroup - but the mechanism, distress, is shared by everyone, not just screen-time limits.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4261104"/>
            <a:ext cx="5390388" cy="1737360"/>
          </a:xfrm>
          <a:prstGeom prst="roundRect">
            <a:avLst>
              <a:gd name="adj" fmla="val 4211"/>
            </a:avLst>
          </a:prstGeom>
          <a:solidFill>
            <a:srgbClr val="16203F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3" name="Shape 20"/>
          <p:cNvSpPr/>
          <p:nvPr/>
        </p:nvSpPr>
        <p:spPr>
          <a:xfrm>
            <a:off x="822960" y="4480560"/>
            <a:ext cx="402336" cy="402336"/>
          </a:xfrm>
          <a:prstGeom prst="ellipse">
            <a:avLst/>
          </a:prstGeom>
          <a:solidFill>
            <a:srgbClr val="2A2C3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614" y="4593214"/>
            <a:ext cx="177028" cy="17702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335024" y="4480560"/>
            <a:ext cx="44759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C28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841248" y="4974336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single questionnaire - association, not causation (common-method bias).</a:t>
            </a:r>
            <a:endParaRPr lang="en-US" sz="1080" dirty="0"/>
          </a:p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sample: 65% female, ages 14–16, Bangladesh - limited generalizability.</a:t>
            </a:r>
            <a:endParaRPr lang="en-US" sz="10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unbalanced groups (non-exercising boys n = 101) · coarse self-reported exposure.</a:t>
            </a:r>
            <a:endParaRPr lang="en-US" sz="1080" dirty="0"/>
          </a:p>
        </p:txBody>
      </p:sp>
      <p:sp>
        <p:nvSpPr>
          <p:cNvPr id="27" name="Shape 23"/>
          <p:cNvSpPr/>
          <p:nvPr/>
        </p:nvSpPr>
        <p:spPr>
          <a:xfrm>
            <a:off x="6231636" y="4261104"/>
            <a:ext cx="5390388" cy="1737360"/>
          </a:xfrm>
          <a:prstGeom prst="roundRect">
            <a:avLst>
              <a:gd name="adj" fmla="val 4211"/>
            </a:avLst>
          </a:prstGeom>
          <a:solidFill>
            <a:srgbClr val="16203F"/>
          </a:solidFill>
          <a:ln w="12700">
            <a:solidFill>
              <a:srgbClr val="2A3358"/>
            </a:solidFill>
            <a:prstDash val="solid"/>
          </a:ln>
        </p:spPr>
        <p:txBody>
          <a:bodyPr/>
          <a:lstStyle/>
          <a:p>
            <a:endParaRPr lang="he-IL"/>
          </a:p>
        </p:txBody>
      </p:sp>
      <p:sp>
        <p:nvSpPr>
          <p:cNvPr id="28" name="Shape 24"/>
          <p:cNvSpPr/>
          <p:nvPr/>
        </p:nvSpPr>
        <p:spPr>
          <a:xfrm>
            <a:off x="6487668" y="4480560"/>
            <a:ext cx="402336" cy="402336"/>
          </a:xfrm>
          <a:prstGeom prst="ellipse">
            <a:avLst/>
          </a:prstGeom>
          <a:solidFill>
            <a:srgbClr val="1E2D3A"/>
          </a:solidFill>
          <a:ln/>
        </p:spPr>
        <p:txBody>
          <a:bodyPr/>
          <a:lstStyle/>
          <a:p>
            <a:endParaRPr lang="he-IL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322" y="4593214"/>
            <a:ext cx="177028" cy="17702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999732" y="4480560"/>
            <a:ext cx="44759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2E8B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6505956" y="4974336"/>
            <a:ext cx="48600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cross-lagged waves to test the depression ⇄ addiction direction.</a:t>
            </a:r>
            <a:endParaRPr lang="en-US" sz="1080" dirty="0"/>
          </a:p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screen-time logs + an exercise dose (frequency, intensity).</a:t>
            </a:r>
            <a:endParaRPr lang="en-US" sz="10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D6D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multi-country, multilevel models · mediation (distress → sleep → addiction).</a:t>
            </a:r>
            <a:endParaRPr lang="en-US" sz="1080" dirty="0"/>
          </a:p>
        </p:txBody>
      </p:sp>
      <p:sp>
        <p:nvSpPr>
          <p:cNvPr id="32" name="Text 27"/>
          <p:cNvSpPr/>
          <p:nvPr/>
        </p:nvSpPr>
        <p:spPr>
          <a:xfrm>
            <a:off x="566928" y="61996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A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6  ·  CIS2601 - Internet Addiction across gender × Exercise groups  ·  Association, not causation.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1897</Words>
  <Application>Microsoft Office PowerPoint</Application>
  <PresentationFormat>מסך רחב</PresentationFormat>
  <Paragraphs>236</Paragraphs>
  <Slides>11</Slides>
  <Notes>11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11</vt:i4>
      </vt:variant>
    </vt:vector>
  </HeadingPairs>
  <TitlesOfParts>
    <vt:vector size="16" baseType="lpstr">
      <vt:lpstr>Arial</vt:lpstr>
      <vt:lpstr>Calibri</vt:lpstr>
      <vt:lpstr>Cambria</vt:lpstr>
      <vt:lpstr>Consolas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 Addiction across Sex × Exercise Clusters</dc:title>
  <dc:subject>PptxGenJS Presentation</dc:subject>
  <dc:creator>Group 6</dc:creator>
  <cp:lastModifiedBy>Alina Kozitsyna</cp:lastModifiedBy>
  <cp:revision>21</cp:revision>
  <dcterms:created xsi:type="dcterms:W3CDTF">2026-06-24T11:18:22Z</dcterms:created>
  <dcterms:modified xsi:type="dcterms:W3CDTF">2026-06-24T11:57:12Z</dcterms:modified>
</cp:coreProperties>
</file>