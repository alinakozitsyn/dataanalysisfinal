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2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8475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554480"/>
            <a:ext cx="4206240" cy="4206240"/>
          </a:xfrm>
          <a:prstGeom prst="ellipse">
            <a:avLst/>
          </a:prstGeom>
          <a:solidFill>
            <a:srgbClr val="1C254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10698480" y="548640"/>
            <a:ext cx="2011680" cy="2011680"/>
          </a:xfrm>
          <a:prstGeom prst="ellipse">
            <a:avLst/>
          </a:prstGeom>
          <a:solidFill>
            <a:srgbClr val="DA5740">
              <a:alpha val="22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9052560" y="1828800"/>
            <a:ext cx="1280160" cy="1280160"/>
          </a:xfrm>
          <a:prstGeom prst="ellipse">
            <a:avLst/>
          </a:prstGeom>
          <a:solidFill>
            <a:srgbClr val="3B79B0">
              <a:alpha val="28000"/>
            </a:srgbClr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66928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7552" y="54864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AF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CIS2601  ·  INTRODUCTION TO DATA SCIENCE  ·  2025–2026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1417320"/>
            <a:ext cx="10607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Addiction across</a:t>
            </a:r>
            <a:endParaRPr lang="en-US" sz="4700" dirty="0"/>
          </a:p>
        </p:txBody>
      </p:sp>
      <p:sp>
        <p:nvSpPr>
          <p:cNvPr id="8" name="Text 5"/>
          <p:cNvSpPr/>
          <p:nvPr/>
        </p:nvSpPr>
        <p:spPr>
          <a:xfrm>
            <a:off x="566928" y="2212848"/>
            <a:ext cx="10607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Gender </a:t>
            </a:r>
            <a:r>
              <a:rPr lang="en-US" sz="4700" b="1" dirty="0">
                <a:solidFill>
                  <a:srgbClr val="DA5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r>
              <a:rPr lang="en-US" sz="4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Exercise groups</a:t>
            </a:r>
            <a:endParaRPr lang="en-US" sz="4700" dirty="0"/>
          </a:p>
        </p:txBody>
      </p:sp>
      <p:sp>
        <p:nvSpPr>
          <p:cNvPr id="9" name="Text 6"/>
          <p:cNvSpPr/>
          <p:nvPr/>
        </p:nvSpPr>
        <p:spPr>
          <a:xfrm>
            <a:off x="566928" y="32004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50" i="1" dirty="0">
                <a:solidFill>
                  <a:srgbClr val="D6D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psychological distress is correlated to perceived internet addiction differently across groups of adolescents and can we forecast who is at risk?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566928" y="4224528"/>
            <a:ext cx="2487168" cy="969264"/>
          </a:xfrm>
          <a:prstGeom prst="roundRect">
            <a:avLst>
              <a:gd name="adj" fmla="val 8491"/>
            </a:avLst>
          </a:prstGeom>
          <a:solidFill>
            <a:srgbClr val="1F2848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Text 8"/>
          <p:cNvSpPr/>
          <p:nvPr/>
        </p:nvSpPr>
        <p:spPr>
          <a:xfrm>
            <a:off x="768096" y="4334256"/>
            <a:ext cx="2121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819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786384" y="480974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2C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adolescents · ages 13–19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00984" y="4224528"/>
            <a:ext cx="2487168" cy="969264"/>
          </a:xfrm>
          <a:prstGeom prst="roundRect">
            <a:avLst>
              <a:gd name="adj" fmla="val 8491"/>
            </a:avLst>
          </a:prstGeom>
          <a:solidFill>
            <a:srgbClr val="1F2848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Text 11"/>
          <p:cNvSpPr/>
          <p:nvPr/>
        </p:nvSpPr>
        <p:spPr>
          <a:xfrm>
            <a:off x="3502152" y="4334256"/>
            <a:ext cx="2121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DA5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3520440" y="480974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2C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× exercise groups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236208" y="4334256"/>
            <a:ext cx="2121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19" name="Shape 16"/>
          <p:cNvSpPr/>
          <p:nvPr/>
        </p:nvSpPr>
        <p:spPr>
          <a:xfrm>
            <a:off x="6025206" y="4218490"/>
            <a:ext cx="2487168" cy="969264"/>
          </a:xfrm>
          <a:prstGeom prst="roundRect">
            <a:avLst>
              <a:gd name="adj" fmla="val 8491"/>
            </a:avLst>
          </a:prstGeom>
          <a:solidFill>
            <a:srgbClr val="1F2848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Text 17"/>
          <p:cNvSpPr/>
          <p:nvPr/>
        </p:nvSpPr>
        <p:spPr>
          <a:xfrm>
            <a:off x="6226374" y="4328218"/>
            <a:ext cx="2121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E8B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6244662" y="480370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2C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risk forecast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66928" y="565099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9A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   </a:t>
            </a:r>
            <a:r>
              <a:rPr lang="en-US" sz="1200" dirty="0">
                <a:solidFill>
                  <a:srgbClr val="D6D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Noam Avizmil  ·  Tomer Golshani  ·  May Mandalaoui  ·  Alina Kozitsyna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66928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Mahmud et al. (2024), Mendeley Data V2 (CC BY 4.0)  ·  Analysis in R 4.5.1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512064" cy="512064"/>
          </a:xfrm>
          <a:prstGeom prst="ellipse">
            <a:avLst/>
          </a:prstGeom>
          <a:solidFill>
            <a:srgbClr val="DA5740"/>
          </a:solidFill>
          <a:ln/>
          <a:effectLst>
            <a:outerShdw blurRad="114300" dist="38100" dir="5400000" algn="bl" rotWithShape="0">
              <a:srgbClr val="0B102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617220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3891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A5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MOTIVATION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261872" y="662940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3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question matters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66928" y="1261872"/>
            <a:ext cx="11018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Adolescent internet addiction is rising worldwide and travels with depression, poor sleep and suicidal ideation. If distress is what turns ordinary use into compulsive, out-of-control use, then the lever is mental-health support - not just screen-time limits.</a:t>
            </a:r>
          </a:p>
        </p:txBody>
      </p:sp>
      <p:sp>
        <p:nvSpPr>
          <p:cNvPr id="7" name="Text 4"/>
          <p:cNvSpPr/>
          <p:nvPr/>
        </p:nvSpPr>
        <p:spPr>
          <a:xfrm>
            <a:off x="566928" y="195681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6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PRIOR WORK TELLS US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66928" y="2286000"/>
            <a:ext cx="2585466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25400" dir="5400000" algn="bl" rotWithShape="0">
              <a:srgbClr val="9AA8C8">
                <a:alpha val="2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9" name="Shape 6"/>
          <p:cNvSpPr/>
          <p:nvPr/>
        </p:nvSpPr>
        <p:spPr>
          <a:xfrm>
            <a:off x="786384" y="2505456"/>
            <a:ext cx="457200" cy="457200"/>
          </a:xfrm>
          <a:prstGeom prst="ellipse">
            <a:avLst/>
          </a:prstGeom>
          <a:solidFill>
            <a:srgbClr val="FAEAE6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63347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86384" y="3054096"/>
            <a:ext cx="21465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3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 ↔ addiction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786384" y="3474720"/>
            <a:ext cx="216484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Meta-analysis of 33 studies (303,243 teens): internet addiction correlates with depression, pooled r⁺ = 0.318.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86384" y="4142232"/>
            <a:ext cx="21648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A5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Soriano-Molina et al. 2025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390138" y="2286000"/>
            <a:ext cx="2585466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25400" dir="5400000" algn="bl" rotWithShape="0">
              <a:srgbClr val="9AA8C8">
                <a:alpha val="2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5" name="Shape 11"/>
          <p:cNvSpPr/>
          <p:nvPr/>
        </p:nvSpPr>
        <p:spPr>
          <a:xfrm>
            <a:off x="3609594" y="2505456"/>
            <a:ext cx="457200" cy="457200"/>
          </a:xfrm>
          <a:prstGeom prst="ellipse">
            <a:avLst/>
          </a:prstGeom>
          <a:solidFill>
            <a:srgbClr val="EAF1F8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7610" y="2633472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609594" y="3054096"/>
            <a:ext cx="21465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3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Loneliness ↔ addiction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3609594" y="3474720"/>
            <a:ext cx="216484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effect sizes: loneliness linked to addiction (r = 0.291); the link weakens as the share of males rises.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3609594" y="4142232"/>
            <a:ext cx="21648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B7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&amp; Zeng 2024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6213348" y="2286000"/>
            <a:ext cx="2585466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25400" dir="5400000" algn="bl" rotWithShape="0">
              <a:srgbClr val="9AA8C8">
                <a:alpha val="2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1" name="Shape 16"/>
          <p:cNvSpPr/>
          <p:nvPr/>
        </p:nvSpPr>
        <p:spPr>
          <a:xfrm>
            <a:off x="6432804" y="2505456"/>
            <a:ext cx="457200" cy="457200"/>
          </a:xfrm>
          <a:prstGeom prst="ellipse">
            <a:avLst/>
          </a:prstGeom>
          <a:solidFill>
            <a:srgbClr val="E7F2EB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0820" y="2633472"/>
            <a:ext cx="201168" cy="20116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32804" y="3054096"/>
            <a:ext cx="21465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3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protects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432804" y="3474720"/>
            <a:ext cx="216484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RCTs: exercise interventions reduced internet-addiction scores (SMD = −1.11)  -  causal, not just correlational.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6432804" y="4142232"/>
            <a:ext cx="21648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F8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et al. 2025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9036558" y="2286000"/>
            <a:ext cx="2585466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25400" dir="5400000" algn="bl" rotWithShape="0">
              <a:srgbClr val="9AA8C8">
                <a:alpha val="2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7" name="Shape 21"/>
          <p:cNvSpPr/>
          <p:nvPr/>
        </p:nvSpPr>
        <p:spPr>
          <a:xfrm>
            <a:off x="9256014" y="2505456"/>
            <a:ext cx="457200" cy="457200"/>
          </a:xfrm>
          <a:prstGeom prst="ellipse">
            <a:avLst/>
          </a:prstGeom>
          <a:solidFill>
            <a:srgbClr val="EEE7F5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84030" y="2633472"/>
            <a:ext cx="201168" cy="20116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256014" y="3054096"/>
            <a:ext cx="21465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3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Males score higher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9256014" y="3474720"/>
            <a:ext cx="216484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jurisdictions: males more likely to be addicted (g = 0.145); the gap is largest in Asia.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9256014" y="4142232"/>
            <a:ext cx="21648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5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et al. 2019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566928" y="4919472"/>
            <a:ext cx="10771632" cy="925436"/>
          </a:xfrm>
          <a:prstGeom prst="roundRect">
            <a:avLst>
              <a:gd name="adj" fmla="val 5517"/>
            </a:avLst>
          </a:prstGeom>
          <a:solidFill>
            <a:srgbClr val="131A33"/>
          </a:solidFill>
          <a:ln/>
          <a:effectLst>
            <a:outerShdw blurRad="114300" dist="38100" dir="5400000" algn="bl" rotWithShape="0">
              <a:srgbClr val="0B102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3" name="Shape 26"/>
          <p:cNvSpPr/>
          <p:nvPr/>
        </p:nvSpPr>
        <p:spPr>
          <a:xfrm>
            <a:off x="877824" y="5212080"/>
            <a:ext cx="512064" cy="512064"/>
          </a:xfrm>
          <a:prstGeom prst="ellipse">
            <a:avLst/>
          </a:prstGeom>
          <a:solidFill>
            <a:srgbClr val="2A3358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1202" y="5360276"/>
            <a:ext cx="225308" cy="22530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586484" y="5181460"/>
            <a:ext cx="9692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DA5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- AND OUR CONTRIBUTION</a:t>
            </a:r>
            <a:endParaRPr lang="en-US" sz="1050" dirty="0"/>
          </a:p>
        </p:txBody>
      </p:sp>
      <p:sp>
        <p:nvSpPr>
          <p:cNvPr id="36" name="Text 28"/>
          <p:cNvSpPr/>
          <p:nvPr/>
        </p:nvSpPr>
        <p:spPr>
          <a:xfrm>
            <a:off x="1591056" y="5193792"/>
            <a:ext cx="98206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L" sz="1200" i="1" dirty="0">
                <a:solidFill>
                  <a:schemeClr val="bg1"/>
                </a:solidFill>
              </a:rPr>
              <a:t>We run the first single-sample interaction test of whether </a:t>
            </a:r>
            <a:r>
              <a:rPr lang="en-IL" sz="1200" dirty="0">
                <a:solidFill>
                  <a:schemeClr val="bg1"/>
                </a:solidFill>
              </a:rPr>
              <a:t> </a:t>
            </a:r>
            <a:r>
              <a:rPr lang="en-IL" sz="1200" i="1" dirty="0">
                <a:solidFill>
                  <a:schemeClr val="bg1"/>
                </a:solidFill>
              </a:rPr>
              <a:t>distress→addiction differs by gender × exercise, using perceived addiction rather than raw hours</a:t>
            </a:r>
            <a:endParaRPr lang="en-IL" sz="1200" dirty="0">
              <a:solidFill>
                <a:schemeClr val="bg1"/>
              </a:solidFill>
            </a:endParaRPr>
          </a:p>
        </p:txBody>
      </p:sp>
      <p:sp>
        <p:nvSpPr>
          <p:cNvPr id="37" name="Text 29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  ·  CIS2601 - Internet Addiction across gender × Exercise groups</a:t>
            </a:r>
            <a:endParaRPr lang="en-US" sz="85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15A8134-DB22-F327-966C-613C064E7E02}"/>
              </a:ext>
            </a:extLst>
          </p:cNvPr>
          <p:cNvSpPr txBox="1"/>
          <p:nvPr/>
        </p:nvSpPr>
        <p:spPr>
          <a:xfrm>
            <a:off x="561594" y="4427588"/>
            <a:ext cx="34967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↔ stands for correlation</a:t>
            </a:r>
            <a:endParaRPr lang="en-IL" sz="11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512064" cy="512064"/>
          </a:xfrm>
          <a:prstGeom prst="ellipse">
            <a:avLst/>
          </a:prstGeom>
          <a:solidFill>
            <a:srgbClr val="3B79B0"/>
          </a:solidFill>
          <a:ln/>
          <a:effectLst>
            <a:outerShdw blurRad="114300" dist="38100" dir="5400000" algn="bl" rotWithShape="0">
              <a:srgbClr val="0B102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617220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3891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B7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TEST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261872" y="662940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3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questions &amp; hypotheses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66928" y="1371600"/>
            <a:ext cx="5074920" cy="2331720"/>
          </a:xfrm>
          <a:prstGeom prst="roundRect">
            <a:avLst>
              <a:gd name="adj" fmla="val 3137"/>
            </a:avLst>
          </a:prstGeom>
          <a:solidFill>
            <a:srgbClr val="FAEAE6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Shape 4"/>
          <p:cNvSpPr/>
          <p:nvPr/>
        </p:nvSpPr>
        <p:spPr>
          <a:xfrm>
            <a:off x="822960" y="1627632"/>
            <a:ext cx="676656" cy="676656"/>
          </a:xfrm>
          <a:prstGeom prst="ellipse">
            <a:avLst/>
          </a:prstGeom>
          <a:solidFill>
            <a:srgbClr val="DA5740"/>
          </a:solidFill>
          <a:ln/>
          <a:effectLst>
            <a:outerShdw blurRad="114300" dist="38100" dir="5400000" algn="bl" rotWithShape="0">
              <a:srgbClr val="0B102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5"/>
          <p:cNvSpPr/>
          <p:nvPr/>
        </p:nvSpPr>
        <p:spPr>
          <a:xfrm>
            <a:off x="822960" y="162763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664208" y="166420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DA5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664208" y="1938528"/>
            <a:ext cx="397764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each of the four gender × exercise groups  do depression and loneliness </a:t>
            </a:r>
            <a:r>
              <a:rPr lang="en-US" sz="12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positively correlated with higher internet-addiction scores</a:t>
            </a:r>
            <a:r>
              <a:rPr lang="en-US" sz="120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(IAT)? And is that link stronger in some groups?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The Groups:</a:t>
            </a:r>
          </a:p>
          <a:p>
            <a:pPr marL="171450" indent="-171450">
              <a:lnSpc>
                <a:spcPct val="108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girls who exercise</a:t>
            </a:r>
          </a:p>
          <a:p>
            <a:pPr marL="171450" indent="-171450">
              <a:lnSpc>
                <a:spcPct val="108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girls who don’t </a:t>
            </a:r>
          </a:p>
          <a:p>
            <a:pPr marL="171450" indent="-171450">
              <a:lnSpc>
                <a:spcPct val="108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boys who exercise </a:t>
            </a:r>
          </a:p>
          <a:p>
            <a:pPr marL="171450" indent="-171450">
              <a:lnSpc>
                <a:spcPct val="108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boys who don’t 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566928" y="3941064"/>
            <a:ext cx="5074920" cy="1691640"/>
          </a:xfrm>
          <a:prstGeom prst="roundRect">
            <a:avLst>
              <a:gd name="adj" fmla="val 4324"/>
            </a:avLst>
          </a:prstGeom>
          <a:solidFill>
            <a:srgbClr val="EAF1F8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Shape 9"/>
          <p:cNvSpPr/>
          <p:nvPr/>
        </p:nvSpPr>
        <p:spPr>
          <a:xfrm>
            <a:off x="822960" y="4197096"/>
            <a:ext cx="676656" cy="676656"/>
          </a:xfrm>
          <a:prstGeom prst="ellipse">
            <a:avLst/>
          </a:prstGeom>
          <a:solidFill>
            <a:srgbClr val="3B79B0"/>
          </a:solidFill>
          <a:ln/>
          <a:effectLst>
            <a:outerShdw blurRad="114300" dist="38100" dir="5400000" algn="bl" rotWithShape="0">
              <a:srgbClr val="0B102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3" name="Text 10"/>
          <p:cNvSpPr/>
          <p:nvPr/>
        </p:nvSpPr>
        <p:spPr>
          <a:xfrm>
            <a:off x="822960" y="4197096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1664208" y="42336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3B7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664208" y="4507992"/>
            <a:ext cx="374904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student’s distress and group, can we forecast the chance they are internet-addicted (IAT ≥ 31, the Young cutoff)?</a:t>
            </a:r>
          </a:p>
          <a:p>
            <a:pPr marL="0" indent="0">
              <a:lnSpc>
                <a:spcPct val="108000"/>
              </a:lnSpc>
              <a:buNone/>
            </a:pPr>
            <a:endParaRPr lang="en-US" sz="1200" dirty="0">
              <a:solidFill>
                <a:srgbClr val="2C3247"/>
              </a:solidFill>
              <a:latin typeface="Calibri" pitchFamily="34" charset="0"/>
              <a:cs typeface="Calibri" pitchFamily="34" charset="-120"/>
            </a:endParaRPr>
          </a:p>
          <a:p>
            <a:pPr>
              <a:lnSpc>
                <a:spcPct val="108000"/>
              </a:lnSpc>
            </a:pPr>
            <a:r>
              <a:rPr lang="en-US" sz="1200" dirty="0">
                <a:solidFill>
                  <a:srgbClr val="2C3247"/>
                </a:solidFill>
                <a:latin typeface="Calibri" pitchFamily="34" charset="0"/>
                <a:cs typeface="Calibri" pitchFamily="34" charset="-120"/>
              </a:rPr>
              <a:t>Depression </a:t>
            </a:r>
            <a:r>
              <a:rPr lang="en-IL" sz="1050" dirty="0"/>
              <a:t>→ P(IAT)</a:t>
            </a:r>
          </a:p>
          <a:p>
            <a:pPr marL="0" indent="0">
              <a:lnSpc>
                <a:spcPct val="108000"/>
              </a:lnSpc>
              <a:buNone/>
            </a:pP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025896" y="1371600"/>
            <a:ext cx="5596128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25400" dir="5400000" algn="bl" rotWithShape="0">
              <a:srgbClr val="9AA8C8">
                <a:alpha val="2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7" name="Shape 14"/>
          <p:cNvSpPr/>
          <p:nvPr/>
        </p:nvSpPr>
        <p:spPr>
          <a:xfrm>
            <a:off x="6281928" y="1609344"/>
            <a:ext cx="420624" cy="420624"/>
          </a:xfrm>
          <a:prstGeom prst="ellipse">
            <a:avLst/>
          </a:prstGeom>
          <a:solidFill>
            <a:srgbClr val="F1F4FA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9703" y="1727119"/>
            <a:ext cx="185075" cy="18507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812280" y="1609344"/>
            <a:ext cx="4681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3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PRE-REGISTERED HYPOTHESES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300216" y="2313432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DA574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1" name="Text 17"/>
          <p:cNvSpPr/>
          <p:nvPr/>
        </p:nvSpPr>
        <p:spPr>
          <a:xfrm>
            <a:off x="6300216" y="231343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H1a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7013448" y="2231136"/>
            <a:ext cx="43525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depression → higher IAT, in every group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281928" y="2761488"/>
            <a:ext cx="5084064" cy="0"/>
          </a:xfrm>
          <a:prstGeom prst="line">
            <a:avLst/>
          </a:prstGeom>
          <a:noFill/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4" name="Shape 20"/>
          <p:cNvSpPr/>
          <p:nvPr/>
        </p:nvSpPr>
        <p:spPr>
          <a:xfrm>
            <a:off x="6300216" y="2862072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3B79B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5" name="Text 21"/>
          <p:cNvSpPr/>
          <p:nvPr/>
        </p:nvSpPr>
        <p:spPr>
          <a:xfrm>
            <a:off x="6300216" y="286207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H1b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7013448" y="2779776"/>
            <a:ext cx="43525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loneliness → higher IAT, in every group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6281928" y="3310128"/>
            <a:ext cx="5084064" cy="0"/>
          </a:xfrm>
          <a:prstGeom prst="line">
            <a:avLst/>
          </a:prstGeom>
          <a:noFill/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8" name="Shape 24"/>
          <p:cNvSpPr/>
          <p:nvPr/>
        </p:nvSpPr>
        <p:spPr>
          <a:xfrm>
            <a:off x="6300216" y="3410712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2F8B58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9" name="Text 25"/>
          <p:cNvSpPr/>
          <p:nvPr/>
        </p:nvSpPr>
        <p:spPr>
          <a:xfrm>
            <a:off x="6300216" y="341071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7013448" y="3328416"/>
            <a:ext cx="43525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buffers the distress→addiction link (flatter slope in exercisers)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6281928" y="3858768"/>
            <a:ext cx="5084064" cy="0"/>
          </a:xfrm>
          <a:prstGeom prst="line">
            <a:avLst/>
          </a:prstGeom>
          <a:noFill/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2" name="Shape 28"/>
          <p:cNvSpPr/>
          <p:nvPr/>
        </p:nvSpPr>
        <p:spPr>
          <a:xfrm>
            <a:off x="6300216" y="3959352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8A5BB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3" name="Text 29"/>
          <p:cNvSpPr/>
          <p:nvPr/>
        </p:nvSpPr>
        <p:spPr>
          <a:xfrm>
            <a:off x="6300216" y="395935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150" dirty="0"/>
          </a:p>
        </p:txBody>
      </p:sp>
      <p:sp>
        <p:nvSpPr>
          <p:cNvPr id="34" name="Text 30"/>
          <p:cNvSpPr/>
          <p:nvPr/>
        </p:nvSpPr>
        <p:spPr>
          <a:xfrm>
            <a:off x="7013448" y="3877056"/>
            <a:ext cx="43525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Males have higher addiction prevalence than females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6281928" y="4407408"/>
            <a:ext cx="5084064" cy="0"/>
          </a:xfrm>
          <a:prstGeom prst="line">
            <a:avLst/>
          </a:prstGeom>
          <a:noFill/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6" name="Shape 32"/>
          <p:cNvSpPr/>
          <p:nvPr/>
        </p:nvSpPr>
        <p:spPr>
          <a:xfrm>
            <a:off x="6300216" y="4507992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C2862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7" name="Text 33"/>
          <p:cNvSpPr/>
          <p:nvPr/>
        </p:nvSpPr>
        <p:spPr>
          <a:xfrm>
            <a:off x="6300216" y="450799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1150" dirty="0"/>
          </a:p>
        </p:txBody>
      </p:sp>
      <p:sp>
        <p:nvSpPr>
          <p:cNvPr id="38" name="Text 34"/>
          <p:cNvSpPr/>
          <p:nvPr/>
        </p:nvSpPr>
        <p:spPr>
          <a:xfrm>
            <a:off x="7013448" y="4425696"/>
            <a:ext cx="43525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Perceived addiction (IAT) tracks distress better than raw screen-time hours</a:t>
            </a:r>
            <a:endParaRPr lang="en-US" sz="1150" dirty="0"/>
          </a:p>
        </p:txBody>
      </p:sp>
      <p:sp>
        <p:nvSpPr>
          <p:cNvPr id="39" name="Shape 35"/>
          <p:cNvSpPr/>
          <p:nvPr/>
        </p:nvSpPr>
        <p:spPr>
          <a:xfrm>
            <a:off x="6281928" y="4956048"/>
            <a:ext cx="5084064" cy="0"/>
          </a:xfrm>
          <a:prstGeom prst="line">
            <a:avLst/>
          </a:prstGeom>
          <a:noFill/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0" name="Shape 36"/>
          <p:cNvSpPr/>
          <p:nvPr/>
        </p:nvSpPr>
        <p:spPr>
          <a:xfrm>
            <a:off x="6300216" y="5056632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2E8B83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1" name="Text 37"/>
          <p:cNvSpPr/>
          <p:nvPr/>
        </p:nvSpPr>
        <p:spPr>
          <a:xfrm>
            <a:off x="6300216" y="505663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</a:t>
            </a:r>
            <a:endParaRPr lang="en-US" sz="1150" dirty="0"/>
          </a:p>
        </p:txBody>
      </p:sp>
      <p:sp>
        <p:nvSpPr>
          <p:cNvPr id="42" name="Text 38"/>
          <p:cNvSpPr/>
          <p:nvPr/>
        </p:nvSpPr>
        <p:spPr>
          <a:xfrm>
            <a:off x="7013448" y="4974336"/>
            <a:ext cx="43525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Distress + group + controls forecast addiction better than chance</a:t>
            </a:r>
            <a:endParaRPr lang="en-US" sz="1150" dirty="0"/>
          </a:p>
        </p:txBody>
      </p:sp>
      <p:sp>
        <p:nvSpPr>
          <p:cNvPr id="43" name="Text 39"/>
          <p:cNvSpPr/>
          <p:nvPr/>
        </p:nvSpPr>
        <p:spPr>
          <a:xfrm>
            <a:off x="6300216" y="5632704"/>
            <a:ext cx="5047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before modelling, grounded in the literature above. Verdicts on slide 10.</a:t>
            </a:r>
            <a:endParaRPr lang="en-US" sz="950" dirty="0"/>
          </a:p>
        </p:txBody>
      </p:sp>
      <p:sp>
        <p:nvSpPr>
          <p:cNvPr id="44" name="Text 40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  ·  CIS2601 - Internet Addiction across gender × Exercise groups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512064" cy="512064"/>
          </a:xfrm>
          <a:prstGeom prst="ellipse">
            <a:avLst/>
          </a:prstGeom>
          <a:solidFill>
            <a:srgbClr val="2E8B83"/>
          </a:solidFill>
          <a:ln/>
          <a:effectLst>
            <a:outerShdw blurRad="114300" dist="38100" dir="5400000" algn="bl" rotWithShape="0">
              <a:srgbClr val="0B102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617220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3891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8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261872" y="662940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3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819 Bangladeshi adolescents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66928" y="1371600"/>
            <a:ext cx="384048" cy="384048"/>
          </a:xfrm>
          <a:prstGeom prst="ellipse">
            <a:avLst/>
          </a:prstGeom>
          <a:solidFill>
            <a:srgbClr val="E3F1EF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461" y="1479133"/>
            <a:ext cx="168981" cy="16898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15568" y="1335024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819 students, ages 13–19 (mean ≈ 15.8); one row per student.</a:t>
            </a:r>
            <a:endParaRPr lang="en-US" sz="1180" dirty="0"/>
          </a:p>
        </p:txBody>
      </p:sp>
      <p:sp>
        <p:nvSpPr>
          <p:cNvPr id="9" name="Shape 5"/>
          <p:cNvSpPr/>
          <p:nvPr/>
        </p:nvSpPr>
        <p:spPr>
          <a:xfrm>
            <a:off x="566928" y="1901952"/>
            <a:ext cx="384048" cy="384048"/>
          </a:xfrm>
          <a:prstGeom prst="ellipse">
            <a:avLst/>
          </a:prstGeom>
          <a:solidFill>
            <a:srgbClr val="E3F1EF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461" y="2009485"/>
            <a:ext cx="168981" cy="16898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15568" y="1865376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Sylhet, Bangladesh - collected by Google Forms behind an informed-consent gate.</a:t>
            </a:r>
            <a:endParaRPr lang="en-US" sz="1180" dirty="0"/>
          </a:p>
        </p:txBody>
      </p:sp>
      <p:sp>
        <p:nvSpPr>
          <p:cNvPr id="12" name="Shape 7"/>
          <p:cNvSpPr/>
          <p:nvPr/>
        </p:nvSpPr>
        <p:spPr>
          <a:xfrm>
            <a:off x="566928" y="2432304"/>
            <a:ext cx="384048" cy="384048"/>
          </a:xfrm>
          <a:prstGeom prst="ellipse">
            <a:avLst/>
          </a:prstGeom>
          <a:solidFill>
            <a:srgbClr val="E3F1EF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461" y="2539837"/>
            <a:ext cx="168981" cy="16898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15568" y="2395728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Cross-sectional · zero missing values across all 91 columns.</a:t>
            </a:r>
            <a:endParaRPr lang="en-US" sz="1180" dirty="0"/>
          </a:p>
        </p:txBody>
      </p:sp>
      <p:sp>
        <p:nvSpPr>
          <p:cNvPr id="15" name="Shape 9"/>
          <p:cNvSpPr/>
          <p:nvPr/>
        </p:nvSpPr>
        <p:spPr>
          <a:xfrm>
            <a:off x="566928" y="2962656"/>
            <a:ext cx="384048" cy="384048"/>
          </a:xfrm>
          <a:prstGeom prst="ellipse">
            <a:avLst/>
          </a:prstGeom>
          <a:solidFill>
            <a:srgbClr val="E3F1EF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461" y="3070189"/>
            <a:ext cx="168981" cy="16898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15568" y="292608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 (non-probability) sample · 65% female, concentrated at ages 14–16.</a:t>
            </a:r>
            <a:endParaRPr lang="en-US" sz="1180" dirty="0"/>
          </a:p>
        </p:txBody>
      </p:sp>
      <p:sp>
        <p:nvSpPr>
          <p:cNvPr id="18" name="Text 11"/>
          <p:cNvSpPr/>
          <p:nvPr/>
        </p:nvSpPr>
        <p:spPr>
          <a:xfrm>
            <a:off x="566928" y="3529584"/>
            <a:ext cx="5806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6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VALIDATED INSTRUMENTS</a:t>
            </a:r>
            <a:endParaRPr lang="en-US" sz="1050" dirty="0"/>
          </a:p>
        </p:txBody>
      </p:sp>
      <p:sp>
        <p:nvSpPr>
          <p:cNvPr id="19" name="Shape 12"/>
          <p:cNvSpPr/>
          <p:nvPr/>
        </p:nvSpPr>
        <p:spPr>
          <a:xfrm>
            <a:off x="566928" y="3822192"/>
            <a:ext cx="5806440" cy="603504"/>
          </a:xfrm>
          <a:prstGeom prst="roundRect">
            <a:avLst>
              <a:gd name="adj" fmla="val 9091"/>
            </a:avLst>
          </a:prstGeom>
          <a:solidFill>
            <a:srgbClr val="FAEAE6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Shape 13"/>
          <p:cNvSpPr/>
          <p:nvPr/>
        </p:nvSpPr>
        <p:spPr>
          <a:xfrm>
            <a:off x="768096" y="4032504"/>
            <a:ext cx="182880" cy="182880"/>
          </a:xfrm>
          <a:prstGeom prst="ellipse">
            <a:avLst/>
          </a:prstGeom>
          <a:solidFill>
            <a:srgbClr val="DA574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1" name="Text 14"/>
          <p:cNvSpPr/>
          <p:nvPr/>
        </p:nvSpPr>
        <p:spPr>
          <a:xfrm>
            <a:off x="1005840" y="388620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Addiction Test   </a:t>
            </a:r>
            <a:r>
              <a:rPr lang="en-US" sz="950" b="1" dirty="0">
                <a:solidFill>
                  <a:srgbClr val="DA5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· perceived addiction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1005840" y="4142232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Young, 1998  -  TotalIA (0–94)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566928" y="4535424"/>
            <a:ext cx="5806440" cy="603504"/>
          </a:xfrm>
          <a:prstGeom prst="roundRect">
            <a:avLst>
              <a:gd name="adj" fmla="val 9091"/>
            </a:avLst>
          </a:prstGeom>
          <a:solidFill>
            <a:srgbClr val="EAF1F8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4" name="Shape 17"/>
          <p:cNvSpPr/>
          <p:nvPr/>
        </p:nvSpPr>
        <p:spPr>
          <a:xfrm>
            <a:off x="768096" y="4745736"/>
            <a:ext cx="182880" cy="182880"/>
          </a:xfrm>
          <a:prstGeom prst="ellipse">
            <a:avLst/>
          </a:prstGeom>
          <a:solidFill>
            <a:srgbClr val="3B79B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5" name="Text 18"/>
          <p:cNvSpPr/>
          <p:nvPr/>
        </p:nvSpPr>
        <p:spPr>
          <a:xfrm>
            <a:off x="1005840" y="4599432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PHQ-9   </a:t>
            </a:r>
            <a:r>
              <a:rPr lang="en-US" sz="950" b="1" dirty="0">
                <a:solidFill>
                  <a:srgbClr val="3B7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1005840" y="4855464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Kroenke et al., 2001  -  totalphq (0–27)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566928" y="5248656"/>
            <a:ext cx="5806440" cy="603504"/>
          </a:xfrm>
          <a:prstGeom prst="roundRect">
            <a:avLst>
              <a:gd name="adj" fmla="val 9091"/>
            </a:avLst>
          </a:prstGeom>
          <a:solidFill>
            <a:srgbClr val="EEE7F5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8" name="Shape 21"/>
          <p:cNvSpPr/>
          <p:nvPr/>
        </p:nvSpPr>
        <p:spPr>
          <a:xfrm>
            <a:off x="768096" y="5458968"/>
            <a:ext cx="182880" cy="182880"/>
          </a:xfrm>
          <a:prstGeom prst="ellipse">
            <a:avLst/>
          </a:prstGeom>
          <a:solidFill>
            <a:srgbClr val="8A5BB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9" name="Text 22"/>
          <p:cNvSpPr/>
          <p:nvPr/>
        </p:nvSpPr>
        <p:spPr>
          <a:xfrm>
            <a:off x="1005840" y="5312664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UCLA Loneliness Scale v3   </a:t>
            </a:r>
            <a:r>
              <a:rPr lang="en-US" sz="950" b="1" dirty="0">
                <a:solidFill>
                  <a:srgbClr val="8A5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loneliness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1005840" y="5568696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Russell, 1996  -  score 29–75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6757416" y="1371600"/>
            <a:ext cx="4864608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25400" dir="5400000" algn="bl" rotWithShape="0">
              <a:srgbClr val="9AA8C8">
                <a:alpha val="2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2" name="Image 5" descr="/home/claude/build/figs/fig1_group_balanc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3720" y="1633220"/>
            <a:ext cx="4572000" cy="2540000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6757416" y="4572000"/>
            <a:ext cx="4864608" cy="1371600"/>
          </a:xfrm>
          <a:prstGeom prst="roundRect">
            <a:avLst>
              <a:gd name="adj" fmla="val 5333"/>
            </a:avLst>
          </a:prstGeom>
          <a:solidFill>
            <a:srgbClr val="F1F4FA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4" name="Text 26"/>
          <p:cNvSpPr/>
          <p:nvPr/>
        </p:nvSpPr>
        <p:spPr>
          <a:xfrm>
            <a:off x="7013448" y="4718304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3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GROUPS = gender × EXERCISE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7013448" y="4992624"/>
            <a:ext cx="4407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Unbalanced by design (largest:smallest ≈ 2.8:1). Non-exercising boys are the smallest group (n = 101) and carry the widest confidence intervals - flagged throughout.</a:t>
            </a: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566928" y="605332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Mahmud et al. (2024), Mendeley Data V2, doi:10.17632/yzcwfyrxy2.2 (CC BY 4.0).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  ·  CIS2601 - Internet Addiction across gender × Exercise groups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512064" cy="512064"/>
          </a:xfrm>
          <a:prstGeom prst="ellipse">
            <a:avLst/>
          </a:prstGeom>
          <a:solidFill>
            <a:srgbClr val="8A5BB0"/>
          </a:solidFill>
          <a:ln/>
          <a:effectLst>
            <a:outerShdw blurRad="114300" dist="38100" dir="5400000" algn="bl" rotWithShape="0">
              <a:srgbClr val="0B102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617220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3891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5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SET IT UP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261872" y="662940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3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decisions that shaped the analysis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66928" y="1371600"/>
            <a:ext cx="5390388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25400" dir="5400000" algn="bl" rotWithShape="0">
              <a:srgbClr val="9AA8C8">
                <a:alpha val="2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" name="Shape 4"/>
          <p:cNvSpPr/>
          <p:nvPr/>
        </p:nvSpPr>
        <p:spPr>
          <a:xfrm>
            <a:off x="841248" y="1645920"/>
            <a:ext cx="603504" cy="603504"/>
          </a:xfrm>
          <a:prstGeom prst="ellipse">
            <a:avLst/>
          </a:prstGeom>
          <a:solidFill>
            <a:srgbClr val="DA5740"/>
          </a:solidFill>
          <a:ln/>
          <a:effectLst>
            <a:outerShdw blurRad="114300" dist="38100" dir="5400000" algn="bl" rotWithShape="0">
              <a:srgbClr val="0B102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5"/>
          <p:cNvSpPr/>
          <p:nvPr/>
        </p:nvSpPr>
        <p:spPr>
          <a:xfrm>
            <a:off x="841248" y="164592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591056" y="1627632"/>
            <a:ext cx="41102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 = perceived addiction, not “hours online”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591056" y="2359152"/>
            <a:ext cx="41468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6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pile up at the floor - 62% of students sit in the lowest social-media bucket (84% for internet), leaving little variance to model.</a:t>
            </a:r>
            <a:endParaRPr lang="en-US" sz="1160" dirty="0"/>
          </a:p>
          <a:p>
            <a:pPr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6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barely track distress (r = 0.27 with depression), while the IAT score tracks it at r = 0.53.</a:t>
            </a:r>
            <a:endParaRPr lang="en-US" sz="1160" dirty="0"/>
          </a:p>
          <a:p>
            <a:pPr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6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IAT measures loss of control - the construct that actually moves with mental health.</a:t>
            </a:r>
            <a:endParaRPr lang="en-US" sz="1160" dirty="0"/>
          </a:p>
        </p:txBody>
      </p:sp>
      <p:sp>
        <p:nvSpPr>
          <p:cNvPr id="11" name="Shape 8"/>
          <p:cNvSpPr/>
          <p:nvPr/>
        </p:nvSpPr>
        <p:spPr>
          <a:xfrm>
            <a:off x="6231636" y="1371600"/>
            <a:ext cx="5390388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25400" dir="5400000" algn="bl" rotWithShape="0">
              <a:srgbClr val="9AA8C8">
                <a:alpha val="2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" name="Shape 9"/>
          <p:cNvSpPr/>
          <p:nvPr/>
        </p:nvSpPr>
        <p:spPr>
          <a:xfrm>
            <a:off x="6505956" y="1645920"/>
            <a:ext cx="603504" cy="603504"/>
          </a:xfrm>
          <a:prstGeom prst="ellipse">
            <a:avLst/>
          </a:prstGeom>
          <a:solidFill>
            <a:srgbClr val="3B79B0"/>
          </a:solidFill>
          <a:ln/>
          <a:effectLst>
            <a:outerShdw blurRad="114300" dist="38100" dir="5400000" algn="bl" rotWithShape="0">
              <a:srgbClr val="0B102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3" name="Text 10"/>
          <p:cNvSpPr/>
          <p:nvPr/>
        </p:nvSpPr>
        <p:spPr>
          <a:xfrm>
            <a:off x="6505956" y="164592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255764" y="1627632"/>
            <a:ext cx="41102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 = the chance of being addicted (logistic)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255764" y="2359152"/>
            <a:ext cx="41468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6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model P(addicted) rather than the raw score, with addicted = IAT ≥ 31 - the standard Young cutoff (25% of students).</a:t>
            </a:r>
            <a:endParaRPr lang="en-US" sz="1160" dirty="0"/>
          </a:p>
          <a:p>
            <a:pPr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6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distributed across groups, so the target is balanced enough to model.</a:t>
            </a:r>
            <a:endParaRPr lang="en-US" sz="1160" dirty="0"/>
          </a:p>
          <a:p>
            <a:pPr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6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re-checked against a stricter cutoff (IAT ≥ 50; 10% of students) as a robustness lens.</a:t>
            </a:r>
            <a:endParaRPr lang="en-US" sz="1160" dirty="0"/>
          </a:p>
        </p:txBody>
      </p:sp>
      <p:sp>
        <p:nvSpPr>
          <p:cNvPr id="16" name="Shape 13"/>
          <p:cNvSpPr/>
          <p:nvPr/>
        </p:nvSpPr>
        <p:spPr>
          <a:xfrm>
            <a:off x="566928" y="4315968"/>
            <a:ext cx="3502152" cy="1627632"/>
          </a:xfrm>
          <a:prstGeom prst="roundRect">
            <a:avLst>
              <a:gd name="adj" fmla="val 4494"/>
            </a:avLst>
          </a:prstGeom>
          <a:solidFill>
            <a:srgbClr val="F1F4FA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Shape 14"/>
          <p:cNvSpPr/>
          <p:nvPr/>
        </p:nvSpPr>
        <p:spPr>
          <a:xfrm>
            <a:off x="804672" y="453542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326" y="4648078"/>
            <a:ext cx="177028" cy="17702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316736" y="4535424"/>
            <a:ext cx="2587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&amp; exclusions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804672" y="5065776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Controls: age + bullied. 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343400" y="4315968"/>
            <a:ext cx="3502152" cy="1627632"/>
          </a:xfrm>
          <a:prstGeom prst="roundRect">
            <a:avLst>
              <a:gd name="adj" fmla="val 4494"/>
            </a:avLst>
          </a:prstGeom>
          <a:solidFill>
            <a:srgbClr val="F1F4FA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Shape 18"/>
          <p:cNvSpPr/>
          <p:nvPr/>
        </p:nvSpPr>
        <p:spPr>
          <a:xfrm>
            <a:off x="4581144" y="453542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3798" y="4648078"/>
            <a:ext cx="177028" cy="17702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093208" y="4535424"/>
            <a:ext cx="2587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- course level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4581144" y="5065776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visually: Residuals-vs-Fitted and Normal Q–Q. Collinearity via the predictor correlation (r = 0.37).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8119872" y="4315968"/>
            <a:ext cx="3502152" cy="1627632"/>
          </a:xfrm>
          <a:prstGeom prst="roundRect">
            <a:avLst>
              <a:gd name="adj" fmla="val 4494"/>
            </a:avLst>
          </a:prstGeom>
          <a:solidFill>
            <a:srgbClr val="F1F4FA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7" name="Shape 22"/>
          <p:cNvSpPr/>
          <p:nvPr/>
        </p:nvSpPr>
        <p:spPr>
          <a:xfrm>
            <a:off x="8357616" y="453542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0270" y="4648078"/>
            <a:ext cx="177028" cy="17702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869680" y="4535424"/>
            <a:ext cx="2587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8357616" y="5065776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set.seed(42), including right before the train/test split - every coefficient, figure and metric reproduces exactly.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  ·  CIS2601 - Internet Addiction across gender × Exercise groups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512064" cy="512064"/>
          </a:xfrm>
          <a:prstGeom prst="ellipse">
            <a:avLst/>
          </a:prstGeom>
          <a:solidFill>
            <a:srgbClr val="3B79B0"/>
          </a:solidFill>
          <a:ln/>
          <a:effectLst>
            <a:outerShdw blurRad="114300" dist="38100" dir="5400000" algn="bl" rotWithShape="0">
              <a:srgbClr val="0B102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617220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3891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B7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261872" y="662940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3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shows before modelling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66928" y="1371600"/>
            <a:ext cx="5390388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25400" dir="5400000" algn="bl" rotWithShape="0">
              <a:srgbClr val="9AA8C8">
                <a:alpha val="2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7" name="Image 1" descr="/home/claude/build/figs/fig3_correlat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8877" y="1517904"/>
            <a:ext cx="3986489" cy="290779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231636" y="1371600"/>
            <a:ext cx="5390388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25400" dir="5400000" algn="bl" rotWithShape="0">
              <a:srgbClr val="9AA8C8">
                <a:alpha val="2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9" name="Image 2" descr="/home/claude/build/figs/fig4_addiction_prevalence_by_clus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0" y="1555750"/>
            <a:ext cx="5097780" cy="28321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66928" y="4754880"/>
            <a:ext cx="3502152" cy="1207008"/>
          </a:xfrm>
          <a:prstGeom prst="roundRect">
            <a:avLst>
              <a:gd name="adj" fmla="val 6061"/>
            </a:avLst>
          </a:prstGeom>
          <a:solidFill>
            <a:srgbClr val="FAEAE6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Text 6"/>
          <p:cNvSpPr/>
          <p:nvPr/>
        </p:nvSpPr>
        <p:spPr>
          <a:xfrm>
            <a:off x="804672" y="4901184"/>
            <a:ext cx="3044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DA5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0.53</a:t>
            </a:r>
            <a:endParaRPr lang="en-US" sz="2700" dirty="0"/>
          </a:p>
        </p:txBody>
      </p:sp>
      <p:sp>
        <p:nvSpPr>
          <p:cNvPr id="12" name="Text 7"/>
          <p:cNvSpPr/>
          <p:nvPr/>
        </p:nvSpPr>
        <p:spPr>
          <a:xfrm>
            <a:off x="804672" y="5413248"/>
            <a:ext cx="3044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Depression–addiction correlation - far ahead of loneliness (0.31).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4343400" y="4754880"/>
            <a:ext cx="3502152" cy="1207008"/>
          </a:xfrm>
          <a:prstGeom prst="roundRect">
            <a:avLst>
              <a:gd name="adj" fmla="val 6061"/>
            </a:avLst>
          </a:prstGeom>
          <a:solidFill>
            <a:srgbClr val="EAF1F8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Text 9"/>
          <p:cNvSpPr/>
          <p:nvPr/>
        </p:nvSpPr>
        <p:spPr>
          <a:xfrm>
            <a:off x="4581144" y="4901184"/>
            <a:ext cx="3044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B79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0.27</a:t>
            </a:r>
            <a:endParaRPr lang="en-US" sz="2700" dirty="0"/>
          </a:p>
        </p:txBody>
      </p:sp>
      <p:sp>
        <p:nvSpPr>
          <p:cNvPr id="15" name="Text 10"/>
          <p:cNvSpPr/>
          <p:nvPr/>
        </p:nvSpPr>
        <p:spPr>
          <a:xfrm>
            <a:off x="4581144" y="5413248"/>
            <a:ext cx="3044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Screen-time tracks addiction (0.53) but distress only 0.27 - a poor mental-health proxy.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8119872" y="4754880"/>
            <a:ext cx="3502152" cy="1207008"/>
          </a:xfrm>
          <a:prstGeom prst="roundRect">
            <a:avLst>
              <a:gd name="adj" fmla="val 6061"/>
            </a:avLst>
          </a:prstGeom>
          <a:solidFill>
            <a:srgbClr val="EEE7F5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Text 12"/>
          <p:cNvSpPr/>
          <p:nvPr/>
        </p:nvSpPr>
        <p:spPr>
          <a:xfrm>
            <a:off x="8357616" y="4901184"/>
            <a:ext cx="3044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8A5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19% → 45%</a:t>
            </a:r>
            <a:endParaRPr lang="en-US" sz="2700" dirty="0"/>
          </a:p>
        </p:txBody>
      </p:sp>
      <p:sp>
        <p:nvSpPr>
          <p:cNvPr id="18" name="Text 13"/>
          <p:cNvSpPr/>
          <p:nvPr/>
        </p:nvSpPr>
        <p:spPr>
          <a:xfrm>
            <a:off x="8357616" y="5413248"/>
            <a:ext cx="3044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Addiction prevalence more than doubles, girls to non-exercising boys.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66928" y="60899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 is heavily right-skewed (≈75% of students below the addiction cutoff) - which is why the forecast uses a binary outcome.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  ·  CIS2601 - Internet Addiction across gender × Exercise groups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512064" cy="512064"/>
          </a:xfrm>
          <a:prstGeom prst="ellipse">
            <a:avLst/>
          </a:prstGeom>
          <a:solidFill>
            <a:srgbClr val="DA5740"/>
          </a:solidFill>
          <a:ln/>
          <a:effectLst>
            <a:outerShdw blurRad="114300" dist="38100" dir="5400000" algn="bl" rotWithShape="0">
              <a:srgbClr val="0B102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617220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3891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A5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261872" y="662940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3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models, one job each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66928" y="1280160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 score calls for linear regression; a yes/no outcome calls for logistic regression. Everything stays within the course syllabus.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40780" y="1828800"/>
            <a:ext cx="5381244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25400" dir="5400000" algn="bl" rotWithShape="0">
              <a:srgbClr val="9AA8C8">
                <a:alpha val="2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5" name="Shape 12"/>
          <p:cNvSpPr/>
          <p:nvPr/>
        </p:nvSpPr>
        <p:spPr>
          <a:xfrm>
            <a:off x="6496812" y="2084832"/>
            <a:ext cx="548640" cy="548640"/>
          </a:xfrm>
          <a:prstGeom prst="ellipse">
            <a:avLst/>
          </a:prstGeom>
          <a:solidFill>
            <a:srgbClr val="3B79B0"/>
          </a:solidFill>
          <a:ln/>
          <a:effectLst>
            <a:outerShdw blurRad="114300" dist="38100" dir="5400000" algn="bl" rotWithShape="0">
              <a:srgbClr val="0B102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6" name="Text 13"/>
          <p:cNvSpPr/>
          <p:nvPr/>
        </p:nvSpPr>
        <p:spPr>
          <a:xfrm>
            <a:off x="6496812" y="2084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191756" y="2084832"/>
            <a:ext cx="41925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interaction model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6515100" y="2724912"/>
            <a:ext cx="4832604" cy="384048"/>
          </a:xfrm>
          <a:prstGeom prst="roundRect">
            <a:avLst>
              <a:gd name="adj" fmla="val 11905"/>
            </a:avLst>
          </a:prstGeom>
          <a:solidFill>
            <a:srgbClr val="EAF1F8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Text 16"/>
          <p:cNvSpPr/>
          <p:nvPr/>
        </p:nvSpPr>
        <p:spPr>
          <a:xfrm>
            <a:off x="6643116" y="2724912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3B7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the distress slopes differ across groups?</a:t>
            </a:r>
            <a:endParaRPr lang="en-US" sz="1020" dirty="0"/>
          </a:p>
        </p:txBody>
      </p:sp>
      <p:sp>
        <p:nvSpPr>
          <p:cNvPr id="20" name="Text 17"/>
          <p:cNvSpPr/>
          <p:nvPr/>
        </p:nvSpPr>
        <p:spPr>
          <a:xfrm>
            <a:off x="6515100" y="3163824"/>
            <a:ext cx="48508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falsifiable test of H2 - whether exercise buffers the distress→addiction link, and whether that differs by gender.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" y="4114800"/>
            <a:ext cx="5381244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25400" dir="5400000" algn="bl" rotWithShape="0">
              <a:srgbClr val="9AA8C8">
                <a:alpha val="2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2" name="Shape 19"/>
          <p:cNvSpPr/>
          <p:nvPr/>
        </p:nvSpPr>
        <p:spPr>
          <a:xfrm>
            <a:off x="822960" y="4370832"/>
            <a:ext cx="548640" cy="548640"/>
          </a:xfrm>
          <a:prstGeom prst="ellipse">
            <a:avLst/>
          </a:prstGeom>
          <a:solidFill>
            <a:srgbClr val="8A5BB0"/>
          </a:solidFill>
          <a:ln/>
          <a:effectLst>
            <a:outerShdw blurRad="114300" dist="38100" dir="5400000" algn="bl" rotWithShape="0">
              <a:srgbClr val="0B102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3" name="Text 20"/>
          <p:cNvSpPr/>
          <p:nvPr/>
        </p:nvSpPr>
        <p:spPr>
          <a:xfrm>
            <a:off x="822960" y="4370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1517904" y="4370832"/>
            <a:ext cx="41925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whole-sample models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841248" y="5010912"/>
            <a:ext cx="4832604" cy="384048"/>
          </a:xfrm>
          <a:prstGeom prst="roundRect">
            <a:avLst>
              <a:gd name="adj" fmla="val 11905"/>
            </a:avLst>
          </a:prstGeom>
          <a:solidFill>
            <a:srgbClr val="EEE7F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6" name="Text 23"/>
          <p:cNvSpPr/>
          <p:nvPr/>
        </p:nvSpPr>
        <p:spPr>
          <a:xfrm>
            <a:off x="969264" y="5010912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8A5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A: distress only   ·   Model B: global additive</a:t>
            </a:r>
            <a:endParaRPr lang="en-US" sz="1020" dirty="0"/>
          </a:p>
        </p:txBody>
      </p:sp>
      <p:sp>
        <p:nvSpPr>
          <p:cNvPr id="27" name="Text 24"/>
          <p:cNvSpPr/>
          <p:nvPr/>
        </p:nvSpPr>
        <p:spPr>
          <a:xfrm>
            <a:off x="841248" y="5449824"/>
            <a:ext cx="48508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once the interaction comes back null - Model B adds gender, exercise, bullied and age across all 819 students.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  ·  CIS2601 - Internet Addiction across gender × Exercise groups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10161727" y="64556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11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512064" cy="512064"/>
          </a:xfrm>
          <a:prstGeom prst="ellipse">
            <a:avLst/>
          </a:prstGeom>
          <a:solidFill>
            <a:srgbClr val="DA5740"/>
          </a:solidFill>
          <a:ln/>
          <a:effectLst>
            <a:outerShdw blurRad="114300" dist="38100" dir="5400000" algn="bl" rotWithShape="0">
              <a:srgbClr val="0B102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617220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3891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A5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THE GROUP REGRESSIONS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261872" y="662940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3305A"/>
                </a:solidFill>
                <a:latin typeface="Cambria" pitchFamily="34" charset="0"/>
              </a:rPr>
              <a:t>On the models – Exploratory and Predictor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124968" y="1371600"/>
            <a:ext cx="6527292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25400" dir="5400000" algn="bl" rotWithShape="0">
              <a:srgbClr val="9AA8C8">
                <a:alpha val="2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7" name="Image 1" descr="/home/claude/build/figs/fig7_cluster_coeffici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520" y="1517904"/>
            <a:ext cx="4904842" cy="272491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24968" y="4535424"/>
            <a:ext cx="1908048" cy="1773936"/>
          </a:xfrm>
          <a:prstGeom prst="roundRect">
            <a:avLst>
              <a:gd name="adj" fmla="val 4667"/>
            </a:avLst>
          </a:prstGeom>
          <a:solidFill>
            <a:srgbClr val="FAEAE6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Text 5"/>
          <p:cNvSpPr/>
          <p:nvPr/>
        </p:nvSpPr>
        <p:spPr>
          <a:xfrm>
            <a:off x="271272" y="4663440"/>
            <a:ext cx="1633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A5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 = 0.38–0.47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271272" y="5102352"/>
            <a:ext cx="1652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depression slope, all p &lt; .001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2179320" y="4572000"/>
            <a:ext cx="4472940" cy="1737360"/>
          </a:xfrm>
          <a:prstGeom prst="roundRect">
            <a:avLst>
              <a:gd name="adj" fmla="val 4211"/>
            </a:avLst>
          </a:prstGeom>
          <a:solidFill>
            <a:srgbClr val="131A33"/>
          </a:solidFill>
          <a:ln/>
          <a:effectLst>
            <a:outerShdw blurRad="114300" dist="38100" dir="5400000" algn="bl" rotWithShape="0">
              <a:srgbClr val="0B102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8" name="Shape 14"/>
          <p:cNvSpPr/>
          <p:nvPr/>
        </p:nvSpPr>
        <p:spPr>
          <a:xfrm>
            <a:off x="2453640" y="4791456"/>
            <a:ext cx="457200" cy="457200"/>
          </a:xfrm>
          <a:prstGeom prst="ellipse">
            <a:avLst/>
          </a:prstGeom>
          <a:solidFill>
            <a:srgbClr val="2A3358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1656" y="4919472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057144" y="4773168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F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SLOPES DIFFER ACROSS GROUPS?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057144" y="5065776"/>
            <a:ext cx="3447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A5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F(6, 805) = 0.65, p = 0.69.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2490216" y="5486400"/>
            <a:ext cx="3959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4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 pushes addiction just as hard for non-exercising boys as for exercising girls. This contradicts H2 (exercise buffering).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  ·  CIS2601 - Internet Addiction across gender × Exercise groups</a:t>
            </a:r>
            <a:endParaRPr lang="en-US" sz="85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A71A89-3961-D8D4-A55C-6191457875D4}"/>
              </a:ext>
            </a:extLst>
          </p:cNvPr>
          <p:cNvSpPr txBox="1"/>
          <p:nvPr/>
        </p:nvSpPr>
        <p:spPr>
          <a:xfrm>
            <a:off x="2163064" y="4541520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L" dirty="0"/>
          </a:p>
        </p:txBody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D0DA6637-F402-7BDD-7124-02DBCF710374}"/>
              </a:ext>
            </a:extLst>
          </p:cNvPr>
          <p:cNvSpPr/>
          <p:nvPr/>
        </p:nvSpPr>
        <p:spPr>
          <a:xfrm>
            <a:off x="6693408" y="1405890"/>
            <a:ext cx="5381244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25400" dir="5400000" algn="bl" rotWithShape="0">
              <a:srgbClr val="9AA8C8">
                <a:alpha val="2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5" name="Shape 5">
            <a:extLst>
              <a:ext uri="{FF2B5EF4-FFF2-40B4-BE49-F238E27FC236}">
                <a16:creationId xmlns:a16="http://schemas.microsoft.com/office/drawing/2014/main" id="{FA5E5FD5-07AC-5D8A-56C7-8B275E10213F}"/>
              </a:ext>
            </a:extLst>
          </p:cNvPr>
          <p:cNvSpPr/>
          <p:nvPr/>
        </p:nvSpPr>
        <p:spPr>
          <a:xfrm>
            <a:off x="6949440" y="1661922"/>
            <a:ext cx="548640" cy="548640"/>
          </a:xfrm>
          <a:prstGeom prst="ellipse">
            <a:avLst/>
          </a:prstGeom>
          <a:solidFill>
            <a:srgbClr val="DA5740"/>
          </a:solidFill>
          <a:ln/>
          <a:effectLst>
            <a:outerShdw blurRad="114300" dist="38100" dir="5400000" algn="bl" rotWithShape="0">
              <a:srgbClr val="0B102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E892124E-A0BA-31BE-DEFF-A6DA69175B34}"/>
              </a:ext>
            </a:extLst>
          </p:cNvPr>
          <p:cNvSpPr/>
          <p:nvPr/>
        </p:nvSpPr>
        <p:spPr>
          <a:xfrm>
            <a:off x="6949440" y="166192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</a:rPr>
              <a:t>*</a:t>
            </a:r>
            <a:endParaRPr lang="en-US" sz="2000" dirty="0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C4F5AD4B-D5D9-42B4-9DCB-D2832C31ABCB}"/>
              </a:ext>
            </a:extLst>
          </p:cNvPr>
          <p:cNvSpPr/>
          <p:nvPr/>
        </p:nvSpPr>
        <p:spPr>
          <a:xfrm>
            <a:off x="7644384" y="1661922"/>
            <a:ext cx="41925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linear regressions - one per group</a:t>
            </a:r>
            <a:endParaRPr lang="en-US" sz="1450" dirty="0"/>
          </a:p>
        </p:txBody>
      </p:sp>
      <p:sp>
        <p:nvSpPr>
          <p:cNvPr id="28" name="Shape 8">
            <a:extLst>
              <a:ext uri="{FF2B5EF4-FFF2-40B4-BE49-F238E27FC236}">
                <a16:creationId xmlns:a16="http://schemas.microsoft.com/office/drawing/2014/main" id="{7FC3FF2E-126C-CF5F-A579-A245AE2A0D14}"/>
              </a:ext>
            </a:extLst>
          </p:cNvPr>
          <p:cNvSpPr/>
          <p:nvPr/>
        </p:nvSpPr>
        <p:spPr>
          <a:xfrm>
            <a:off x="6967728" y="2302002"/>
            <a:ext cx="4832604" cy="384048"/>
          </a:xfrm>
          <a:prstGeom prst="roundRect">
            <a:avLst>
              <a:gd name="adj" fmla="val 11905"/>
            </a:avLst>
          </a:prstGeom>
          <a:solidFill>
            <a:srgbClr val="FAEAE6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8CAB421B-1FE0-F544-ED40-C3CBCF586B7F}"/>
              </a:ext>
            </a:extLst>
          </p:cNvPr>
          <p:cNvSpPr/>
          <p:nvPr/>
        </p:nvSpPr>
        <p:spPr>
          <a:xfrm>
            <a:off x="7095744" y="2302002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DA5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TotalIA ~ depression + loneliness + age + bullied</a:t>
            </a:r>
            <a:endParaRPr lang="en-US" sz="1020" dirty="0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4270BD1-7D6C-28C0-F6CC-6D802E6A7922}"/>
              </a:ext>
            </a:extLst>
          </p:cNvPr>
          <p:cNvSpPr/>
          <p:nvPr/>
        </p:nvSpPr>
        <p:spPr>
          <a:xfrm>
            <a:off x="6967728" y="2740914"/>
            <a:ext cx="48508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the distress slope inside each gender × exercise subgroup, holding the group fixed by stratification.</a:t>
            </a:r>
            <a:endParaRPr lang="en-US" sz="1100" dirty="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6D53F180-309E-49DE-FF40-BE2467614465}"/>
              </a:ext>
            </a:extLst>
          </p:cNvPr>
          <p:cNvSpPr/>
          <p:nvPr/>
        </p:nvSpPr>
        <p:spPr>
          <a:xfrm>
            <a:off x="6709664" y="3493008"/>
            <a:ext cx="5381244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25400" dir="5400000" algn="bl" rotWithShape="0">
              <a:srgbClr val="9AA8C8">
                <a:alpha val="2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4" name="Shape 26">
            <a:extLst>
              <a:ext uri="{FF2B5EF4-FFF2-40B4-BE49-F238E27FC236}">
                <a16:creationId xmlns:a16="http://schemas.microsoft.com/office/drawing/2014/main" id="{349B8A11-D5D3-A122-AC7E-8800DF9E3568}"/>
              </a:ext>
            </a:extLst>
          </p:cNvPr>
          <p:cNvSpPr/>
          <p:nvPr/>
        </p:nvSpPr>
        <p:spPr>
          <a:xfrm>
            <a:off x="6965696" y="3749040"/>
            <a:ext cx="548640" cy="548640"/>
          </a:xfrm>
          <a:prstGeom prst="ellipse">
            <a:avLst/>
          </a:prstGeom>
          <a:solidFill>
            <a:srgbClr val="2E8B83"/>
          </a:solidFill>
          <a:ln/>
          <a:effectLst>
            <a:outerShdw blurRad="114300" dist="38100" dir="5400000" algn="bl" rotWithShape="0">
              <a:srgbClr val="0B102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D49E9254-7101-A331-2144-7D606E31AC0E}"/>
              </a:ext>
            </a:extLst>
          </p:cNvPr>
          <p:cNvSpPr/>
          <p:nvPr/>
        </p:nvSpPr>
        <p:spPr>
          <a:xfrm>
            <a:off x="6965696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**</a:t>
            </a:r>
            <a:endParaRPr lang="en-US" sz="2000" dirty="0"/>
          </a:p>
        </p:txBody>
      </p:sp>
      <p:sp>
        <p:nvSpPr>
          <p:cNvPr id="36" name="Text 28">
            <a:extLst>
              <a:ext uri="{FF2B5EF4-FFF2-40B4-BE49-F238E27FC236}">
                <a16:creationId xmlns:a16="http://schemas.microsoft.com/office/drawing/2014/main" id="{3D212012-33FA-AB64-ECC1-E741FCDA15D2}"/>
              </a:ext>
            </a:extLst>
          </p:cNvPr>
          <p:cNvSpPr/>
          <p:nvPr/>
        </p:nvSpPr>
        <p:spPr>
          <a:xfrm>
            <a:off x="7660640" y="3749040"/>
            <a:ext cx="41925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forecast of P(addicted)</a:t>
            </a:r>
            <a:endParaRPr lang="en-US" sz="1450" dirty="0"/>
          </a:p>
        </p:txBody>
      </p:sp>
      <p:sp>
        <p:nvSpPr>
          <p:cNvPr id="37" name="Shape 29">
            <a:extLst>
              <a:ext uri="{FF2B5EF4-FFF2-40B4-BE49-F238E27FC236}">
                <a16:creationId xmlns:a16="http://schemas.microsoft.com/office/drawing/2014/main" id="{80CA69BE-5513-8955-8E96-4C4B5DFD436D}"/>
              </a:ext>
            </a:extLst>
          </p:cNvPr>
          <p:cNvSpPr/>
          <p:nvPr/>
        </p:nvSpPr>
        <p:spPr>
          <a:xfrm>
            <a:off x="6983984" y="4389120"/>
            <a:ext cx="4832604" cy="384048"/>
          </a:xfrm>
          <a:prstGeom prst="roundRect">
            <a:avLst>
              <a:gd name="adj" fmla="val 11905"/>
            </a:avLst>
          </a:prstGeom>
          <a:solidFill>
            <a:srgbClr val="E3F1E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8" name="Text 30">
            <a:extLst>
              <a:ext uri="{FF2B5EF4-FFF2-40B4-BE49-F238E27FC236}">
                <a16:creationId xmlns:a16="http://schemas.microsoft.com/office/drawing/2014/main" id="{10FBC451-66BB-6F0B-32F4-7310BD7E4EA3}"/>
              </a:ext>
            </a:extLst>
          </p:cNvPr>
          <p:cNvSpPr/>
          <p:nvPr/>
        </p:nvSpPr>
        <p:spPr>
          <a:xfrm>
            <a:off x="7112000" y="4389120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E8B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 depression + loneliness + gender + exercise + age + bullied</a:t>
            </a:r>
            <a:endParaRPr lang="en-US" sz="1020" dirty="0"/>
          </a:p>
        </p:txBody>
      </p:sp>
      <p:sp>
        <p:nvSpPr>
          <p:cNvPr id="39" name="Text 31">
            <a:extLst>
              <a:ext uri="{FF2B5EF4-FFF2-40B4-BE49-F238E27FC236}">
                <a16:creationId xmlns:a16="http://schemas.microsoft.com/office/drawing/2014/main" id="{E4721E80-C703-76E0-0444-341A29F36D26}"/>
              </a:ext>
            </a:extLst>
          </p:cNvPr>
          <p:cNvSpPr/>
          <p:nvPr/>
        </p:nvSpPr>
        <p:spPr>
          <a:xfrm>
            <a:off x="6983984" y="4828032"/>
            <a:ext cx="48508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70/30 stratified split: fit on train, score on the held-out test. ROC / AUC + confusion matrix; odds ratios on the full sample.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512064" cy="512064"/>
          </a:xfrm>
          <a:prstGeom prst="ellipse">
            <a:avLst/>
          </a:prstGeom>
          <a:solidFill>
            <a:srgbClr val="2E8B83"/>
          </a:solidFill>
          <a:ln/>
          <a:effectLst>
            <a:outerShdw blurRad="114300" dist="38100" dir="5400000" algn="bl" rotWithShape="0">
              <a:srgbClr val="0B102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617220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3891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8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THE FORECAST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261872" y="662940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3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 who is at risk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66928" y="1371600"/>
            <a:ext cx="45720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25400" dir="5400000" algn="bl" rotWithShape="0">
              <a:srgbClr val="9AA8C8">
                <a:alpha val="2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7" name="Image 1" descr="/home/claude/build/figs/fig11_ro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2729" y="1517904"/>
            <a:ext cx="3180398" cy="290779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66928" y="4663440"/>
            <a:ext cx="4572000" cy="1280160"/>
          </a:xfrm>
          <a:prstGeom prst="roundRect">
            <a:avLst>
              <a:gd name="adj" fmla="val 5714"/>
            </a:avLst>
          </a:prstGeom>
          <a:solidFill>
            <a:srgbClr val="131A33"/>
          </a:solidFill>
          <a:ln/>
          <a:effectLst>
            <a:outerShdw blurRad="114300" dist="38100" dir="5400000" algn="bl" rotWithShape="0">
              <a:srgbClr val="0B102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9" name="Text 5"/>
          <p:cNvSpPr/>
          <p:nvPr/>
        </p:nvSpPr>
        <p:spPr>
          <a:xfrm>
            <a:off x="841248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F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86384" y="5047488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E8B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</a:t>
            </a:r>
            <a:endParaRPr lang="en-US" sz="4400" dirty="0"/>
          </a:p>
        </p:txBody>
      </p:sp>
      <p:sp>
        <p:nvSpPr>
          <p:cNvPr id="11" name="Text 7"/>
          <p:cNvSpPr/>
          <p:nvPr/>
        </p:nvSpPr>
        <p:spPr>
          <a:xfrm>
            <a:off x="2578608" y="4882896"/>
            <a:ext cx="2331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0.78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2C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0.74 baseline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2C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0.89  ·  Sens 0.47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5532120" y="1017016"/>
            <a:ext cx="6099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3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AT HIGHER RISK – SLOPES (FULL SAMPLE)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532120" y="1364488"/>
            <a:ext cx="6099048" cy="475488"/>
          </a:xfrm>
          <a:prstGeom prst="roundRect">
            <a:avLst>
              <a:gd name="adj" fmla="val 9615"/>
            </a:avLst>
          </a:prstGeom>
          <a:solidFill>
            <a:srgbClr val="F1F4FA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Text 10"/>
          <p:cNvSpPr/>
          <p:nvPr/>
        </p:nvSpPr>
        <p:spPr>
          <a:xfrm>
            <a:off x="5751576" y="1364488"/>
            <a:ext cx="3447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PHQ-9 point (depression) -  main question </a:t>
            </a:r>
            <a:endParaRPr lang="en-US" sz="1180" dirty="0"/>
          </a:p>
        </p:txBody>
      </p:sp>
      <p:sp>
        <p:nvSpPr>
          <p:cNvPr id="15" name="Text 11"/>
          <p:cNvSpPr/>
          <p:nvPr/>
        </p:nvSpPr>
        <p:spPr>
          <a:xfrm>
            <a:off x="9116568" y="136448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A5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1.18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0259568" y="13644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F8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.001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522976" y="2267712"/>
            <a:ext cx="6099048" cy="475488"/>
          </a:xfrm>
          <a:prstGeom prst="roundRect">
            <a:avLst>
              <a:gd name="adj" fmla="val 9615"/>
            </a:avLst>
          </a:prstGeom>
          <a:solidFill>
            <a:srgbClr val="FBFCFE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Text 14"/>
          <p:cNvSpPr/>
          <p:nvPr/>
        </p:nvSpPr>
        <p:spPr>
          <a:xfrm>
            <a:off x="5742432" y="2267712"/>
            <a:ext cx="3447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Bullied (vs not)</a:t>
            </a:r>
            <a:endParaRPr lang="en-US" sz="1180" dirty="0"/>
          </a:p>
        </p:txBody>
      </p:sp>
      <p:sp>
        <p:nvSpPr>
          <p:cNvPr id="19" name="Text 15"/>
          <p:cNvSpPr/>
          <p:nvPr/>
        </p:nvSpPr>
        <p:spPr>
          <a:xfrm>
            <a:off x="9107424" y="226771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3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1.98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10250424" y="226771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F8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.002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522976" y="2816352"/>
            <a:ext cx="6099048" cy="475488"/>
          </a:xfrm>
          <a:prstGeom prst="roundRect">
            <a:avLst>
              <a:gd name="adj" fmla="val 9615"/>
            </a:avLst>
          </a:prstGeom>
          <a:solidFill>
            <a:srgbClr val="F1F4FA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Text 18"/>
          <p:cNvSpPr/>
          <p:nvPr/>
        </p:nvSpPr>
        <p:spPr>
          <a:xfrm>
            <a:off x="5742432" y="2816352"/>
            <a:ext cx="3447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(vs female)</a:t>
            </a:r>
            <a:endParaRPr lang="en-US" sz="1180" dirty="0"/>
          </a:p>
        </p:txBody>
      </p:sp>
      <p:sp>
        <p:nvSpPr>
          <p:cNvPr id="23" name="Text 19"/>
          <p:cNvSpPr/>
          <p:nvPr/>
        </p:nvSpPr>
        <p:spPr>
          <a:xfrm>
            <a:off x="9107424" y="281635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3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1.60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10250424" y="281635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F8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.023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5522976" y="3364992"/>
            <a:ext cx="6099048" cy="475488"/>
          </a:xfrm>
          <a:prstGeom prst="roundRect">
            <a:avLst>
              <a:gd name="adj" fmla="val 9615"/>
            </a:avLst>
          </a:prstGeom>
          <a:solidFill>
            <a:srgbClr val="FBFCFE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6" name="Text 22"/>
          <p:cNvSpPr/>
          <p:nvPr/>
        </p:nvSpPr>
        <p:spPr>
          <a:xfrm>
            <a:off x="5742432" y="3364992"/>
            <a:ext cx="3447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year of age</a:t>
            </a:r>
            <a:endParaRPr lang="en-US" sz="1180" dirty="0"/>
          </a:p>
        </p:txBody>
      </p:sp>
      <p:sp>
        <p:nvSpPr>
          <p:cNvPr id="27" name="Text 23"/>
          <p:cNvSpPr/>
          <p:nvPr/>
        </p:nvSpPr>
        <p:spPr>
          <a:xfrm>
            <a:off x="9107424" y="336499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3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1.26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10250424" y="336499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F8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.001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5522976" y="3913632"/>
            <a:ext cx="6099048" cy="475488"/>
          </a:xfrm>
          <a:prstGeom prst="roundRect">
            <a:avLst>
              <a:gd name="adj" fmla="val 9615"/>
            </a:avLst>
          </a:prstGeom>
          <a:solidFill>
            <a:srgbClr val="F1F4FA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0" name="Text 26"/>
          <p:cNvSpPr/>
          <p:nvPr/>
        </p:nvSpPr>
        <p:spPr>
          <a:xfrm>
            <a:off x="5742432" y="3913632"/>
            <a:ext cx="3447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UCLA point (loneliness)</a:t>
            </a:r>
            <a:endParaRPr lang="en-US" sz="1180" dirty="0"/>
          </a:p>
        </p:txBody>
      </p:sp>
      <p:sp>
        <p:nvSpPr>
          <p:cNvPr id="31" name="Text 27"/>
          <p:cNvSpPr/>
          <p:nvPr/>
        </p:nvSpPr>
        <p:spPr>
          <a:xfrm>
            <a:off x="9107424" y="391363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79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1.04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10250424" y="391363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F8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.001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5522976" y="4462272"/>
            <a:ext cx="6099048" cy="475488"/>
          </a:xfrm>
          <a:prstGeom prst="roundRect">
            <a:avLst>
              <a:gd name="adj" fmla="val 9615"/>
            </a:avLst>
          </a:prstGeom>
          <a:solidFill>
            <a:srgbClr val="FBFCFE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4" name="Text 30"/>
          <p:cNvSpPr/>
          <p:nvPr/>
        </p:nvSpPr>
        <p:spPr>
          <a:xfrm>
            <a:off x="5742432" y="4462272"/>
            <a:ext cx="3447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 (vs not)</a:t>
            </a:r>
            <a:endParaRPr lang="en-US" sz="1180" dirty="0"/>
          </a:p>
        </p:txBody>
      </p:sp>
      <p:sp>
        <p:nvSpPr>
          <p:cNvPr id="35" name="Text 31"/>
          <p:cNvSpPr/>
          <p:nvPr/>
        </p:nvSpPr>
        <p:spPr>
          <a:xfrm>
            <a:off x="9107424" y="446227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C7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10250424" y="446227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6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n.s. (p = .383)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5522976" y="5065776"/>
            <a:ext cx="6099048" cy="841248"/>
          </a:xfrm>
          <a:prstGeom prst="roundRect">
            <a:avLst>
              <a:gd name="adj" fmla="val 7609"/>
            </a:avLst>
          </a:prstGeom>
          <a:solidFill>
            <a:srgbClr val="FAEAE6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8" name="Text 34"/>
          <p:cNvSpPr/>
          <p:nvPr/>
        </p:nvSpPr>
        <p:spPr>
          <a:xfrm>
            <a:off x="5760720" y="5065776"/>
            <a:ext cx="56418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30" b="1" dirty="0">
                <a:solidFill>
                  <a:srgbClr val="DA5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extra PHQ-9 point raises the odds of addiction by ~18%. </a:t>
            </a:r>
            <a:r>
              <a:rPr lang="en-US" sz="113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bullied, male, and older all raise the odds; exercise points protective but isn’t significant once distress and gender are in.</a:t>
            </a:r>
            <a:endParaRPr lang="en-US" sz="1130" dirty="0"/>
          </a:p>
        </p:txBody>
      </p:sp>
      <p:sp>
        <p:nvSpPr>
          <p:cNvPr id="39" name="Text 35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  ·  CIS2601 - Internet Addiction across gender × Exercise groups</a:t>
            </a:r>
            <a:endParaRPr lang="en-US" sz="85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430D645-0B8A-B69F-F936-4E074DD23EEF}"/>
              </a:ext>
            </a:extLst>
          </p:cNvPr>
          <p:cNvSpPr txBox="1"/>
          <p:nvPr/>
        </p:nvSpPr>
        <p:spPr>
          <a:xfrm>
            <a:off x="5522976" y="1919269"/>
            <a:ext cx="3317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IL" sz="1200" b="1" dirty="0">
                <a:latin typeface="Calibri" panose="020F0502020204030204" pitchFamily="34" charset="0"/>
                <a:cs typeface="Calibri" panose="020F0502020204030204" pitchFamily="34" charset="0"/>
              </a:rPr>
              <a:t>sossiated variables that helped main question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512064" cy="512064"/>
          </a:xfrm>
          <a:prstGeom prst="ellipse">
            <a:avLst/>
          </a:prstGeom>
          <a:solidFill>
            <a:srgbClr val="2F8B58"/>
          </a:solidFill>
          <a:ln/>
          <a:effectLst>
            <a:outerShdw blurRad="114300" dist="38100" dir="5400000" algn="bl" rotWithShape="0">
              <a:srgbClr val="0B102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617220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3891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F8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SCORECARD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261872" y="662940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3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found 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66928" y="1417320"/>
            <a:ext cx="11055096" cy="420624"/>
          </a:xfrm>
          <a:prstGeom prst="rect">
            <a:avLst/>
          </a:prstGeom>
          <a:solidFill>
            <a:srgbClr val="131A33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4"/>
          <p:cNvSpPr/>
          <p:nvPr/>
        </p:nvSpPr>
        <p:spPr>
          <a:xfrm>
            <a:off x="566928" y="141732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316736" y="1417320"/>
            <a:ext cx="466344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089904" y="1417320"/>
            <a:ext cx="178308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964424" y="1417320"/>
            <a:ext cx="361188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66928" y="1837944"/>
            <a:ext cx="11055096" cy="530352"/>
          </a:xfrm>
          <a:prstGeom prst="rect">
            <a:avLst/>
          </a:prstGeom>
          <a:solidFill>
            <a:srgbClr val="F5F7FC"/>
          </a:solidFill>
          <a:ln w="9525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Text 9"/>
          <p:cNvSpPr/>
          <p:nvPr/>
        </p:nvSpPr>
        <p:spPr>
          <a:xfrm>
            <a:off x="566928" y="1837944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H1a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280160" y="1837944"/>
            <a:ext cx="466344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depression → higher IAT (every group)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053328" y="1956816"/>
            <a:ext cx="1627632" cy="292608"/>
          </a:xfrm>
          <a:prstGeom prst="roundRect">
            <a:avLst>
              <a:gd name="adj" fmla="val 15625"/>
            </a:avLst>
          </a:prstGeom>
          <a:solidFill>
            <a:srgbClr val="E7F2E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5" name="Text 12"/>
          <p:cNvSpPr/>
          <p:nvPr/>
        </p:nvSpPr>
        <p:spPr>
          <a:xfrm>
            <a:off x="6053328" y="1956816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2F8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927848" y="1837944"/>
            <a:ext cx="361188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β 0.38–0.47, all p &lt; .001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566928" y="2368296"/>
            <a:ext cx="11055096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Text 15"/>
          <p:cNvSpPr/>
          <p:nvPr/>
        </p:nvSpPr>
        <p:spPr>
          <a:xfrm>
            <a:off x="566928" y="2368296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H1b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280160" y="2368296"/>
            <a:ext cx="466344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loneliness → higher IAT (every group)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053328" y="2487168"/>
            <a:ext cx="1627632" cy="292608"/>
          </a:xfrm>
          <a:prstGeom prst="roundRect">
            <a:avLst>
              <a:gd name="adj" fmla="val 15625"/>
            </a:avLst>
          </a:prstGeom>
          <a:solidFill>
            <a:srgbClr val="F8EFDD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1" name="Text 18"/>
          <p:cNvSpPr/>
          <p:nvPr/>
        </p:nvSpPr>
        <p:spPr>
          <a:xfrm>
            <a:off x="6053328" y="2487168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C2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927848" y="2368296"/>
            <a:ext cx="361188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0.11–0.13 pooled; ≈ 0 in 3 of 4 groups</a:t>
            </a:r>
            <a:endParaRPr lang="en-US" sz="1080" dirty="0"/>
          </a:p>
        </p:txBody>
      </p:sp>
      <p:sp>
        <p:nvSpPr>
          <p:cNvPr id="23" name="Shape 20"/>
          <p:cNvSpPr/>
          <p:nvPr/>
        </p:nvSpPr>
        <p:spPr>
          <a:xfrm>
            <a:off x="566928" y="2898648"/>
            <a:ext cx="11055096" cy="530352"/>
          </a:xfrm>
          <a:prstGeom prst="rect">
            <a:avLst/>
          </a:prstGeom>
          <a:solidFill>
            <a:srgbClr val="F5F7FC"/>
          </a:solidFill>
          <a:ln w="9525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4" name="Text 21"/>
          <p:cNvSpPr/>
          <p:nvPr/>
        </p:nvSpPr>
        <p:spPr>
          <a:xfrm>
            <a:off x="566928" y="2898648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1280160" y="2898648"/>
            <a:ext cx="466344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buffers the distress→addiction link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053328" y="3017520"/>
            <a:ext cx="1627632" cy="292608"/>
          </a:xfrm>
          <a:prstGeom prst="roundRect">
            <a:avLst>
              <a:gd name="adj" fmla="val 15625"/>
            </a:avLst>
          </a:prstGeom>
          <a:solidFill>
            <a:srgbClr val="F8E7E3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7" name="Text 24"/>
          <p:cNvSpPr/>
          <p:nvPr/>
        </p:nvSpPr>
        <p:spPr>
          <a:xfrm>
            <a:off x="6053328" y="301752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C04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CONTRADICTED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927848" y="2898648"/>
            <a:ext cx="361188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F(6,805) = 0.65, p = 0.69</a:t>
            </a:r>
            <a:endParaRPr lang="en-US" sz="1080" dirty="0"/>
          </a:p>
        </p:txBody>
      </p:sp>
      <p:sp>
        <p:nvSpPr>
          <p:cNvPr id="29" name="Shape 26"/>
          <p:cNvSpPr/>
          <p:nvPr/>
        </p:nvSpPr>
        <p:spPr>
          <a:xfrm>
            <a:off x="566928" y="3429000"/>
            <a:ext cx="11055096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0" name="Text 27"/>
          <p:cNvSpPr/>
          <p:nvPr/>
        </p:nvSpPr>
        <p:spPr>
          <a:xfrm>
            <a:off x="566928" y="3429000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1280160" y="3429000"/>
            <a:ext cx="466344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Males have higher prevalence than females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053328" y="3547872"/>
            <a:ext cx="1627632" cy="292608"/>
          </a:xfrm>
          <a:prstGeom prst="roundRect">
            <a:avLst>
              <a:gd name="adj" fmla="val 15625"/>
            </a:avLst>
          </a:prstGeom>
          <a:solidFill>
            <a:srgbClr val="E7F2E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3" name="Text 30"/>
          <p:cNvSpPr/>
          <p:nvPr/>
        </p:nvSpPr>
        <p:spPr>
          <a:xfrm>
            <a:off x="6053328" y="354787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2F8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927848" y="3429000"/>
            <a:ext cx="361188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vs 19%; male OR = 1.60</a:t>
            </a:r>
            <a:endParaRPr lang="en-US" sz="1080" dirty="0"/>
          </a:p>
        </p:txBody>
      </p:sp>
      <p:sp>
        <p:nvSpPr>
          <p:cNvPr id="35" name="Shape 32"/>
          <p:cNvSpPr/>
          <p:nvPr/>
        </p:nvSpPr>
        <p:spPr>
          <a:xfrm>
            <a:off x="566928" y="3959352"/>
            <a:ext cx="11055096" cy="530352"/>
          </a:xfrm>
          <a:prstGeom prst="rect">
            <a:avLst/>
          </a:prstGeom>
          <a:solidFill>
            <a:srgbClr val="F5F7FC"/>
          </a:solidFill>
          <a:ln w="9525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6" name="Text 33"/>
          <p:cNvSpPr/>
          <p:nvPr/>
        </p:nvSpPr>
        <p:spPr>
          <a:xfrm>
            <a:off x="566928" y="3959352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1280160" y="3959352"/>
            <a:ext cx="466344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 tracks distress better than screen-time hours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053328" y="4078224"/>
            <a:ext cx="1627632" cy="292608"/>
          </a:xfrm>
          <a:prstGeom prst="roundRect">
            <a:avLst>
              <a:gd name="adj" fmla="val 15625"/>
            </a:avLst>
          </a:prstGeom>
          <a:solidFill>
            <a:srgbClr val="E7F2E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9" name="Text 36"/>
          <p:cNvSpPr/>
          <p:nvPr/>
        </p:nvSpPr>
        <p:spPr>
          <a:xfrm>
            <a:off x="6053328" y="407822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2F8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7927848" y="3959352"/>
            <a:ext cx="361188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 r = 0.53 vs hours r = 0.27 (w/ depression)</a:t>
            </a:r>
            <a:endParaRPr lang="en-US" sz="1080" dirty="0"/>
          </a:p>
        </p:txBody>
      </p:sp>
      <p:sp>
        <p:nvSpPr>
          <p:cNvPr id="41" name="Shape 38"/>
          <p:cNvSpPr/>
          <p:nvPr/>
        </p:nvSpPr>
        <p:spPr>
          <a:xfrm>
            <a:off x="566928" y="4489704"/>
            <a:ext cx="11055096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2" name="Text 39"/>
          <p:cNvSpPr/>
          <p:nvPr/>
        </p:nvSpPr>
        <p:spPr>
          <a:xfrm>
            <a:off x="566928" y="4489704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</a:t>
            </a:r>
            <a:endParaRPr lang="en-US" sz="1250" dirty="0"/>
          </a:p>
        </p:txBody>
      </p:sp>
      <p:sp>
        <p:nvSpPr>
          <p:cNvPr id="43" name="Text 40"/>
          <p:cNvSpPr/>
          <p:nvPr/>
        </p:nvSpPr>
        <p:spPr>
          <a:xfrm>
            <a:off x="1280160" y="4489704"/>
            <a:ext cx="466344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Distress + group forecast addiction &gt; chance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6053328" y="4608576"/>
            <a:ext cx="1627632" cy="292608"/>
          </a:xfrm>
          <a:prstGeom prst="roundRect">
            <a:avLst>
              <a:gd name="adj" fmla="val 15625"/>
            </a:avLst>
          </a:prstGeom>
          <a:solidFill>
            <a:srgbClr val="F8EFDD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5" name="Text 42"/>
          <p:cNvSpPr/>
          <p:nvPr/>
        </p:nvSpPr>
        <p:spPr>
          <a:xfrm>
            <a:off x="6053328" y="4608576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C2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7927848" y="4489704"/>
            <a:ext cx="361188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0.76, accuracy 0.78 &gt; 0.74 baseline</a:t>
            </a:r>
            <a:endParaRPr lang="en-US" sz="1080" dirty="0"/>
          </a:p>
        </p:txBody>
      </p:sp>
      <p:sp>
        <p:nvSpPr>
          <p:cNvPr id="47" name="Shape 44"/>
          <p:cNvSpPr/>
          <p:nvPr/>
        </p:nvSpPr>
        <p:spPr>
          <a:xfrm>
            <a:off x="566928" y="5020056"/>
            <a:ext cx="11055096" cy="530352"/>
          </a:xfrm>
          <a:prstGeom prst="rect">
            <a:avLst/>
          </a:prstGeom>
          <a:solidFill>
            <a:srgbClr val="F5F7FC"/>
          </a:solidFill>
          <a:ln w="9525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8" name="Text 45"/>
          <p:cNvSpPr/>
          <p:nvPr/>
        </p:nvSpPr>
        <p:spPr>
          <a:xfrm>
            <a:off x="566928" y="5020056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2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1280160" y="5020056"/>
            <a:ext cx="466344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Emergent: groups differ in level, not slope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6053328" y="5138928"/>
            <a:ext cx="1627632" cy="292608"/>
          </a:xfrm>
          <a:prstGeom prst="roundRect">
            <a:avLst>
              <a:gd name="adj" fmla="val 15625"/>
            </a:avLst>
          </a:prstGeom>
          <a:solidFill>
            <a:srgbClr val="E7F2E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1" name="Text 48"/>
          <p:cNvSpPr/>
          <p:nvPr/>
        </p:nvSpPr>
        <p:spPr>
          <a:xfrm>
            <a:off x="6053328" y="5138928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2F8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7927848" y="5020056"/>
            <a:ext cx="361188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slopes (Fig 7) + different heights (Fig 4)</a:t>
            </a:r>
            <a:endParaRPr lang="en-US" sz="1080" dirty="0"/>
          </a:p>
        </p:txBody>
      </p:sp>
      <p:sp>
        <p:nvSpPr>
          <p:cNvPr id="53" name="Text 50"/>
          <p:cNvSpPr/>
          <p:nvPr/>
        </p:nvSpPr>
        <p:spPr>
          <a:xfrm>
            <a:off x="566928" y="5715000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23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r>
              <a:rPr lang="en-US" sz="1200" dirty="0">
                <a:solidFill>
                  <a:srgbClr val="2C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 is the main predictor of perceived addiction, well ahead of loneliness, and it works at about the same rate in every subgroup - what changes from group to group is the starting point.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  ·  CIS2601 - Internet Addiction across gender × Exercise groups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023360"/>
            <a:ext cx="4023360" cy="4023360"/>
          </a:xfrm>
          <a:prstGeom prst="ellipse">
            <a:avLst/>
          </a:prstGeom>
          <a:solidFill>
            <a:srgbClr val="1A2244"/>
          </a:solidFill>
          <a:ln/>
        </p:spPr>
        <p:txBody>
          <a:bodyPr/>
          <a:lstStyle/>
          <a:p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3" name="Shape 1"/>
          <p:cNvSpPr/>
          <p:nvPr/>
        </p:nvSpPr>
        <p:spPr>
          <a:xfrm>
            <a:off x="10607040" y="-1280160"/>
            <a:ext cx="3108960" cy="3108960"/>
          </a:xfrm>
          <a:prstGeom prst="ellipse">
            <a:avLst/>
          </a:prstGeom>
          <a:solidFill>
            <a:srgbClr val="DA5740">
              <a:alpha val="16000"/>
            </a:srgbClr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48640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53035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AF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66928" y="9144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566928" y="1792224"/>
            <a:ext cx="3502152" cy="2194560"/>
          </a:xfrm>
          <a:prstGeom prst="roundRect">
            <a:avLst>
              <a:gd name="adj" fmla="val 3750"/>
            </a:avLst>
          </a:prstGeom>
          <a:solidFill>
            <a:srgbClr val="1F2848"/>
          </a:solidFill>
          <a:ln w="12700">
            <a:solidFill>
              <a:srgbClr val="2A3358"/>
            </a:solidFill>
            <a:prstDash val="solid"/>
          </a:ln>
          <a:effectLst>
            <a:outerShdw blurRad="114300" dist="38100" dir="5400000" algn="bl" rotWithShape="0">
              <a:srgbClr val="0B102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Shape 5"/>
          <p:cNvSpPr/>
          <p:nvPr/>
        </p:nvSpPr>
        <p:spPr>
          <a:xfrm>
            <a:off x="841248" y="2066544"/>
            <a:ext cx="603504" cy="603504"/>
          </a:xfrm>
          <a:prstGeom prst="ellipse">
            <a:avLst/>
          </a:prstGeom>
          <a:solidFill>
            <a:srgbClr val="DA574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9" name="Text 6"/>
          <p:cNvSpPr/>
          <p:nvPr/>
        </p:nvSpPr>
        <p:spPr>
          <a:xfrm>
            <a:off x="841248" y="206654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41248" y="2779776"/>
            <a:ext cx="29535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 - not loneliness - is the driver.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41248" y="336499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2C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main predictor of perceived internet addiction, and it bites about equally hard in every subgroup.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43400" y="1792224"/>
            <a:ext cx="3502152" cy="2194560"/>
          </a:xfrm>
          <a:prstGeom prst="roundRect">
            <a:avLst>
              <a:gd name="adj" fmla="val 3750"/>
            </a:avLst>
          </a:prstGeom>
          <a:solidFill>
            <a:srgbClr val="1F2848"/>
          </a:solidFill>
          <a:ln w="12700">
            <a:solidFill>
              <a:srgbClr val="2A3358"/>
            </a:solidFill>
            <a:prstDash val="solid"/>
          </a:ln>
          <a:effectLst>
            <a:outerShdw blurRad="114300" dist="38100" dir="5400000" algn="bl" rotWithShape="0">
              <a:srgbClr val="0B102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3" name="Shape 10"/>
          <p:cNvSpPr/>
          <p:nvPr/>
        </p:nvSpPr>
        <p:spPr>
          <a:xfrm>
            <a:off x="4617720" y="2066544"/>
            <a:ext cx="603504" cy="603504"/>
          </a:xfrm>
          <a:prstGeom prst="ellipse">
            <a:avLst/>
          </a:prstGeom>
          <a:solidFill>
            <a:srgbClr val="3B79B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4" name="Text 11"/>
          <p:cNvSpPr/>
          <p:nvPr/>
        </p:nvSpPr>
        <p:spPr>
          <a:xfrm>
            <a:off x="4617720" y="206654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617720" y="2779776"/>
            <a:ext cx="29535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differ in level, not slope.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4617720" y="336499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2C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Non-exercising boys cross into addiction far more often because they start with more distress and a higher male baseline.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119872" y="1792224"/>
            <a:ext cx="3502152" cy="2194560"/>
          </a:xfrm>
          <a:prstGeom prst="roundRect">
            <a:avLst>
              <a:gd name="adj" fmla="val 3750"/>
            </a:avLst>
          </a:prstGeom>
          <a:solidFill>
            <a:srgbClr val="1F2848"/>
          </a:solidFill>
          <a:ln w="12700">
            <a:solidFill>
              <a:srgbClr val="2A3358"/>
            </a:solidFill>
            <a:prstDash val="solid"/>
          </a:ln>
          <a:effectLst>
            <a:outerShdw blurRad="114300" dist="38100" dir="5400000" algn="bl" rotWithShape="0">
              <a:srgbClr val="0B102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8" name="Shape 15"/>
          <p:cNvSpPr/>
          <p:nvPr/>
        </p:nvSpPr>
        <p:spPr>
          <a:xfrm>
            <a:off x="8394192" y="2066544"/>
            <a:ext cx="603504" cy="603504"/>
          </a:xfrm>
          <a:prstGeom prst="ellipse">
            <a:avLst/>
          </a:prstGeom>
          <a:solidFill>
            <a:srgbClr val="2E8B83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Text 16"/>
          <p:cNvSpPr/>
          <p:nvPr/>
        </p:nvSpPr>
        <p:spPr>
          <a:xfrm>
            <a:off x="8394192" y="206654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8394192" y="2779776"/>
            <a:ext cx="29535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lever is mental-health support.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8394192" y="336499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2C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high-baseline subgroup - but the mechanism, distress, is shared by everyone, not just screen-time limits.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66928" y="4261104"/>
            <a:ext cx="5390388" cy="1737360"/>
          </a:xfrm>
          <a:prstGeom prst="roundRect">
            <a:avLst>
              <a:gd name="adj" fmla="val 4211"/>
            </a:avLst>
          </a:prstGeom>
          <a:solidFill>
            <a:srgbClr val="16203F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Shape 20"/>
          <p:cNvSpPr/>
          <p:nvPr/>
        </p:nvSpPr>
        <p:spPr>
          <a:xfrm>
            <a:off x="822960" y="4480560"/>
            <a:ext cx="402336" cy="402336"/>
          </a:xfrm>
          <a:prstGeom prst="ellipse">
            <a:avLst/>
          </a:prstGeom>
          <a:solidFill>
            <a:srgbClr val="2A2C3A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614" y="4593214"/>
            <a:ext cx="177028" cy="17702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335024" y="4480560"/>
            <a:ext cx="44759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C2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841248" y="4974336"/>
            <a:ext cx="48600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080" dirty="0">
                <a:solidFill>
                  <a:srgbClr val="D6D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Cross-sectional single questionnaire - association, not causation (common-method bias).</a:t>
            </a:r>
            <a:endParaRPr lang="en-US" sz="1080" dirty="0"/>
          </a:p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080" dirty="0">
                <a:solidFill>
                  <a:srgbClr val="D6D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 sample: 65% female, ages 14–16, Bangladesh - limited generalizability.</a:t>
            </a:r>
            <a:endParaRPr lang="en-US" sz="108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D6D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unbalanced groups (non-exercising boys n = 101) · coarse self-reported exposure.</a:t>
            </a:r>
            <a:endParaRPr lang="en-US" sz="1080" dirty="0"/>
          </a:p>
        </p:txBody>
      </p:sp>
      <p:sp>
        <p:nvSpPr>
          <p:cNvPr id="27" name="Shape 23"/>
          <p:cNvSpPr/>
          <p:nvPr/>
        </p:nvSpPr>
        <p:spPr>
          <a:xfrm>
            <a:off x="6231636" y="4261104"/>
            <a:ext cx="5390388" cy="1737360"/>
          </a:xfrm>
          <a:prstGeom prst="roundRect">
            <a:avLst>
              <a:gd name="adj" fmla="val 4211"/>
            </a:avLst>
          </a:prstGeom>
          <a:solidFill>
            <a:srgbClr val="16203F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8" name="Shape 24"/>
          <p:cNvSpPr/>
          <p:nvPr/>
        </p:nvSpPr>
        <p:spPr>
          <a:xfrm>
            <a:off x="6487668" y="4480560"/>
            <a:ext cx="402336" cy="402336"/>
          </a:xfrm>
          <a:prstGeom prst="ellipse">
            <a:avLst/>
          </a:prstGeom>
          <a:solidFill>
            <a:srgbClr val="1E2D3A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0322" y="4593214"/>
            <a:ext cx="177028" cy="17702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999732" y="4480560"/>
            <a:ext cx="44759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2E8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6505956" y="4974336"/>
            <a:ext cx="48600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080" dirty="0">
                <a:solidFill>
                  <a:srgbClr val="D6D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cross-lagged waves to test the depression ⇄ addiction direction.</a:t>
            </a:r>
            <a:endParaRPr lang="en-US" sz="1080" dirty="0"/>
          </a:p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080" dirty="0">
                <a:solidFill>
                  <a:srgbClr val="D6D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screen-time logs + an exercise dose (frequency, intensity).</a:t>
            </a:r>
            <a:endParaRPr lang="en-US" sz="108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D6D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multi-country, multilevel models · mediation (distress → sleep → addiction).</a:t>
            </a:r>
            <a:endParaRPr lang="en-US" sz="1080" dirty="0"/>
          </a:p>
        </p:txBody>
      </p:sp>
      <p:sp>
        <p:nvSpPr>
          <p:cNvPr id="32" name="Text 27"/>
          <p:cNvSpPr/>
          <p:nvPr/>
        </p:nvSpPr>
        <p:spPr>
          <a:xfrm>
            <a:off x="566928" y="61996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  ·  CIS2601 - Internet Addiction across gender × Exercise groups  ·  Association, not causation.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1840</Words>
  <Application>Microsoft Macintosh PowerPoint</Application>
  <PresentationFormat>Widescreen</PresentationFormat>
  <Paragraphs>233</Paragraphs>
  <Slides>11</Slides>
  <Notes>11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Addiction across Sex × Exercise Clusters</dc:title>
  <dc:subject>PptxGenJS Presentation</dc:subject>
  <dc:creator>Group 6</dc:creator>
  <cp:lastModifiedBy>נועם אביזמיל</cp:lastModifiedBy>
  <cp:revision>22</cp:revision>
  <dcterms:created xsi:type="dcterms:W3CDTF">2026-06-24T11:18:22Z</dcterms:created>
  <dcterms:modified xsi:type="dcterms:W3CDTF">2026-06-29T07:43:06Z</dcterms:modified>
</cp:coreProperties>
</file>